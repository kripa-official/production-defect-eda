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Libre Baskerville" charset="1" panose="02000000000000000000"/>
      <p:regular r:id="rId16"/>
    </p:embeddedFont>
    <p:embeddedFont>
      <p:font typeface="Open Sans" charset="1" panose="00000000000000000000"/>
      <p:regular r:id="rId17"/>
    </p:embeddedFont>
    <p:embeddedFont>
      <p:font typeface="Open Sans Bold" charset="1" panose="00000000000000000000"/>
      <p:regular r:id="rId18"/>
    </p:embeddedFont>
    <p:embeddedFont>
      <p:font typeface="Open Sans Italics"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2"/>
              <a:stretch>
                <a:fillRect l="0" t="0" r="0" b="0"/>
              </a:stretch>
            </a:blipFill>
          </p:spPr>
        </p:sp>
      </p:grpSp>
      <p:sp>
        <p:nvSpPr>
          <p:cNvPr name="TextBox 8" id="8"/>
          <p:cNvSpPr txBox="true"/>
          <p:nvPr/>
        </p:nvSpPr>
        <p:spPr>
          <a:xfrm rot="0">
            <a:off x="7850238" y="3185665"/>
            <a:ext cx="9445523" cy="1569244"/>
          </a:xfrm>
          <a:prstGeom prst="rect">
            <a:avLst/>
          </a:prstGeom>
        </p:spPr>
        <p:txBody>
          <a:bodyPr anchor="t" rtlCol="false" tIns="0" lIns="0" bIns="0" rIns="0">
            <a:spAutoFit/>
          </a:bodyPr>
          <a:lstStyle/>
          <a:p>
            <a:pPr algn="l">
              <a:lnSpc>
                <a:spcPts val="5990"/>
              </a:lnSpc>
            </a:pPr>
            <a:r>
              <a:rPr lang="en-US" sz="4800">
                <a:solidFill>
                  <a:srgbClr val="403CCF"/>
                </a:solidFill>
                <a:latin typeface="Libre Baskerville"/>
                <a:ea typeface="Libre Baskerville"/>
                <a:cs typeface="Libre Baskerville"/>
                <a:sym typeface="Libre Baskerville"/>
              </a:rPr>
              <a:t>Manufacturing Defect Analysis</a:t>
            </a:r>
          </a:p>
        </p:txBody>
      </p:sp>
      <p:sp>
        <p:nvSpPr>
          <p:cNvPr name="TextBox 9" id="9"/>
          <p:cNvSpPr txBox="true"/>
          <p:nvPr/>
        </p:nvSpPr>
        <p:spPr>
          <a:xfrm rot="0">
            <a:off x="7850238" y="5050784"/>
            <a:ext cx="9445523" cy="1266977"/>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A data-driven investigation into defect patterns, repair costs, inspection methods, and severity breakdowns — designed to help manufacturing engineers and data analysts uncover actionable insights from production quality data.</a:t>
            </a:r>
          </a:p>
        </p:txBody>
      </p:sp>
      <p:grpSp>
        <p:nvGrpSpPr>
          <p:cNvPr name="Group 10" id="10"/>
          <p:cNvGrpSpPr/>
          <p:nvPr/>
        </p:nvGrpSpPr>
        <p:grpSpPr>
          <a:xfrm rot="0">
            <a:off x="7850238" y="6606330"/>
            <a:ext cx="1741141" cy="466430"/>
            <a:chOff x="0" y="0"/>
            <a:chExt cx="2321522" cy="621906"/>
          </a:xfrm>
        </p:grpSpPr>
        <p:sp>
          <p:nvSpPr>
            <p:cNvPr name="Freeform 11" id="11"/>
            <p:cNvSpPr/>
            <p:nvPr/>
          </p:nvSpPr>
          <p:spPr>
            <a:xfrm flipH="false" flipV="false" rot="0">
              <a:off x="0" y="0"/>
              <a:ext cx="2321560" cy="621919"/>
            </a:xfrm>
            <a:custGeom>
              <a:avLst/>
              <a:gdLst/>
              <a:ahLst/>
              <a:cxnLst/>
              <a:rect r="r" b="b" t="t" l="l"/>
              <a:pathLst>
                <a:path h="621919" w="2321560">
                  <a:moveTo>
                    <a:pt x="0" y="39751"/>
                  </a:moveTo>
                  <a:cubicBezTo>
                    <a:pt x="0" y="17780"/>
                    <a:pt x="17780" y="0"/>
                    <a:pt x="39751" y="0"/>
                  </a:cubicBezTo>
                  <a:lnTo>
                    <a:pt x="2281809" y="0"/>
                  </a:lnTo>
                  <a:cubicBezTo>
                    <a:pt x="2303780" y="0"/>
                    <a:pt x="2321560" y="17780"/>
                    <a:pt x="2321560" y="39751"/>
                  </a:cubicBezTo>
                  <a:lnTo>
                    <a:pt x="2321560" y="582168"/>
                  </a:lnTo>
                  <a:cubicBezTo>
                    <a:pt x="2321560" y="604139"/>
                    <a:pt x="2303780" y="621919"/>
                    <a:pt x="2281809" y="621919"/>
                  </a:cubicBezTo>
                  <a:lnTo>
                    <a:pt x="39751" y="621919"/>
                  </a:lnTo>
                  <a:cubicBezTo>
                    <a:pt x="17780" y="621919"/>
                    <a:pt x="0" y="604139"/>
                    <a:pt x="0" y="582168"/>
                  </a:cubicBezTo>
                  <a:close/>
                </a:path>
              </a:pathLst>
            </a:custGeom>
            <a:solidFill>
              <a:srgbClr val="D7D6F5"/>
            </a:solidFill>
          </p:spPr>
        </p:sp>
      </p:grpSp>
      <p:sp>
        <p:nvSpPr>
          <p:cNvPr name="TextBox 12" id="12"/>
          <p:cNvSpPr txBox="true"/>
          <p:nvPr/>
        </p:nvSpPr>
        <p:spPr>
          <a:xfrm rot="0">
            <a:off x="7999066" y="6633124"/>
            <a:ext cx="2357885" cy="365227"/>
          </a:xfrm>
          <a:prstGeom prst="rect">
            <a:avLst/>
          </a:prstGeom>
        </p:spPr>
        <p:txBody>
          <a:bodyPr anchor="t" rtlCol="false" tIns="0" lIns="0" bIns="0" rIns="0">
            <a:spAutoFit/>
          </a:bodyPr>
          <a:lstStyle/>
          <a:p>
            <a:pPr algn="l">
              <a:lnSpc>
                <a:spcPts val="2394"/>
              </a:lnSpc>
            </a:pPr>
            <a:r>
              <a:rPr lang="en-US" sz="1500">
                <a:solidFill>
                  <a:srgbClr val="49495A"/>
                </a:solidFill>
                <a:latin typeface="Open Sans"/>
                <a:ea typeface="Open Sans"/>
                <a:cs typeface="Open Sans"/>
                <a:sym typeface="Open Sans"/>
              </a:rPr>
              <a:t>DATA ANALYSIS</a:t>
            </a:r>
          </a:p>
        </p:txBody>
      </p:sp>
      <p:grpSp>
        <p:nvGrpSpPr>
          <p:cNvPr name="Group 13" id="13"/>
          <p:cNvGrpSpPr/>
          <p:nvPr/>
        </p:nvGrpSpPr>
        <p:grpSpPr>
          <a:xfrm rot="0">
            <a:off x="9710585" y="6592043"/>
            <a:ext cx="2099520" cy="495005"/>
            <a:chOff x="0" y="0"/>
            <a:chExt cx="2799359" cy="660006"/>
          </a:xfrm>
        </p:grpSpPr>
        <p:sp>
          <p:nvSpPr>
            <p:cNvPr name="Freeform 14" id="14"/>
            <p:cNvSpPr/>
            <p:nvPr/>
          </p:nvSpPr>
          <p:spPr>
            <a:xfrm flipH="false" flipV="false" rot="0">
              <a:off x="0" y="0"/>
              <a:ext cx="2799461" cy="660146"/>
            </a:xfrm>
            <a:custGeom>
              <a:avLst/>
              <a:gdLst/>
              <a:ahLst/>
              <a:cxnLst/>
              <a:rect r="r" b="b" t="t" l="l"/>
              <a:pathLst>
                <a:path h="660146" w="2799461">
                  <a:moveTo>
                    <a:pt x="0" y="40513"/>
                  </a:moveTo>
                  <a:cubicBezTo>
                    <a:pt x="0" y="18161"/>
                    <a:pt x="18161" y="0"/>
                    <a:pt x="40513" y="0"/>
                  </a:cubicBezTo>
                  <a:lnTo>
                    <a:pt x="2758948" y="0"/>
                  </a:lnTo>
                  <a:cubicBezTo>
                    <a:pt x="2781300" y="0"/>
                    <a:pt x="2799461" y="18161"/>
                    <a:pt x="2799461" y="40513"/>
                  </a:cubicBezTo>
                  <a:lnTo>
                    <a:pt x="2799461" y="619633"/>
                  </a:lnTo>
                  <a:cubicBezTo>
                    <a:pt x="2799461" y="641985"/>
                    <a:pt x="2781300" y="660146"/>
                    <a:pt x="2758948" y="660146"/>
                  </a:cubicBezTo>
                  <a:lnTo>
                    <a:pt x="40513" y="660146"/>
                  </a:lnTo>
                  <a:cubicBezTo>
                    <a:pt x="18161" y="660019"/>
                    <a:pt x="0" y="641858"/>
                    <a:pt x="0" y="619506"/>
                  </a:cubicBezTo>
                  <a:close/>
                </a:path>
              </a:pathLst>
            </a:custGeom>
            <a:blipFill>
              <a:blip r:embed="rId3">
                <a:alphaModFix amt="0"/>
              </a:blip>
              <a:stretch>
                <a:fillRect l="0" t="-32637" r="3" b="-32616"/>
              </a:stretch>
            </a:blipFill>
            <a:ln w="9526" cap="sq">
              <a:solidFill>
                <a:srgbClr val="403CCF"/>
              </a:solidFill>
              <a:prstDash val="solid"/>
              <a:miter/>
            </a:ln>
          </p:spPr>
        </p:sp>
      </p:grpSp>
      <p:sp>
        <p:nvSpPr>
          <p:cNvPr name="TextBox 15" id="15"/>
          <p:cNvSpPr txBox="true"/>
          <p:nvPr/>
        </p:nvSpPr>
        <p:spPr>
          <a:xfrm rot="0">
            <a:off x="9873701" y="6633124"/>
            <a:ext cx="2687688" cy="365227"/>
          </a:xfrm>
          <a:prstGeom prst="rect">
            <a:avLst/>
          </a:prstGeom>
        </p:spPr>
        <p:txBody>
          <a:bodyPr anchor="t" rtlCol="false" tIns="0" lIns="0" bIns="0" rIns="0">
            <a:spAutoFit/>
          </a:bodyPr>
          <a:lstStyle/>
          <a:p>
            <a:pPr algn="l">
              <a:lnSpc>
                <a:spcPts val="2394"/>
              </a:lnSpc>
            </a:pPr>
            <a:r>
              <a:rPr lang="en-US" sz="1500">
                <a:solidFill>
                  <a:srgbClr val="403CCF"/>
                </a:solidFill>
                <a:latin typeface="Open Sans"/>
                <a:ea typeface="Open Sans"/>
                <a:cs typeface="Open Sans"/>
                <a:sym typeface="Open Sans"/>
              </a:rPr>
              <a:t>QUALITY CONTROL</a:t>
            </a:r>
          </a:p>
        </p:txBody>
      </p:sp>
      <p:grpSp>
        <p:nvGrpSpPr>
          <p:cNvPr name="Group 16" id="16"/>
          <p:cNvGrpSpPr/>
          <p:nvPr/>
        </p:nvGrpSpPr>
        <p:grpSpPr>
          <a:xfrm rot="0">
            <a:off x="11924557" y="6592043"/>
            <a:ext cx="3379737" cy="495005"/>
            <a:chOff x="0" y="0"/>
            <a:chExt cx="4506316" cy="660006"/>
          </a:xfrm>
        </p:grpSpPr>
        <p:sp>
          <p:nvSpPr>
            <p:cNvPr name="Freeform 17" id="17"/>
            <p:cNvSpPr/>
            <p:nvPr/>
          </p:nvSpPr>
          <p:spPr>
            <a:xfrm flipH="false" flipV="false" rot="0">
              <a:off x="0" y="0"/>
              <a:ext cx="4506341" cy="660146"/>
            </a:xfrm>
            <a:custGeom>
              <a:avLst/>
              <a:gdLst/>
              <a:ahLst/>
              <a:cxnLst/>
              <a:rect r="r" b="b" t="t" l="l"/>
              <a:pathLst>
                <a:path h="660146" w="4506341">
                  <a:moveTo>
                    <a:pt x="0" y="40513"/>
                  </a:moveTo>
                  <a:cubicBezTo>
                    <a:pt x="0" y="18161"/>
                    <a:pt x="18161" y="0"/>
                    <a:pt x="40513" y="0"/>
                  </a:cubicBezTo>
                  <a:lnTo>
                    <a:pt x="4465828" y="0"/>
                  </a:lnTo>
                  <a:cubicBezTo>
                    <a:pt x="4488180" y="0"/>
                    <a:pt x="4506341" y="18161"/>
                    <a:pt x="4506341" y="40513"/>
                  </a:cubicBezTo>
                  <a:lnTo>
                    <a:pt x="4506341" y="619633"/>
                  </a:lnTo>
                  <a:cubicBezTo>
                    <a:pt x="4506341" y="641985"/>
                    <a:pt x="4488180" y="660146"/>
                    <a:pt x="4465828" y="660146"/>
                  </a:cubicBezTo>
                  <a:lnTo>
                    <a:pt x="40513" y="660146"/>
                  </a:lnTo>
                  <a:cubicBezTo>
                    <a:pt x="18161" y="660019"/>
                    <a:pt x="0" y="641858"/>
                    <a:pt x="0" y="619506"/>
                  </a:cubicBezTo>
                  <a:close/>
                </a:path>
              </a:pathLst>
            </a:custGeom>
            <a:blipFill>
              <a:blip r:embed="rId3">
                <a:alphaModFix amt="0"/>
              </a:blip>
              <a:stretch>
                <a:fillRect l="0" t="-83020" r="0" b="-82998"/>
              </a:stretch>
            </a:blipFill>
            <a:ln w="9526" cap="sq">
              <a:solidFill>
                <a:srgbClr val="403CCF"/>
              </a:solidFill>
              <a:prstDash val="solid"/>
              <a:miter/>
            </a:ln>
          </p:spPr>
        </p:sp>
      </p:grpSp>
      <p:sp>
        <p:nvSpPr>
          <p:cNvPr name="TextBox 18" id="18"/>
          <p:cNvSpPr txBox="true"/>
          <p:nvPr/>
        </p:nvSpPr>
        <p:spPr>
          <a:xfrm rot="0">
            <a:off x="12087673" y="6633124"/>
            <a:ext cx="3967905" cy="365227"/>
          </a:xfrm>
          <a:prstGeom prst="rect">
            <a:avLst/>
          </a:prstGeom>
        </p:spPr>
        <p:txBody>
          <a:bodyPr anchor="t" rtlCol="false" tIns="0" lIns="0" bIns="0" rIns="0">
            <a:spAutoFit/>
          </a:bodyPr>
          <a:lstStyle/>
          <a:p>
            <a:pPr algn="l">
              <a:lnSpc>
                <a:spcPts val="2394"/>
              </a:lnSpc>
            </a:pPr>
            <a:r>
              <a:rPr lang="en-US" sz="1500">
                <a:solidFill>
                  <a:srgbClr val="403CCF"/>
                </a:solidFill>
                <a:latin typeface="Open Sans"/>
                <a:ea typeface="Open Sans"/>
                <a:cs typeface="Open Sans"/>
                <a:sym typeface="Open Sans"/>
              </a:rPr>
              <a:t>MANUFACTURING INTELLIGENCE</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1641272"/>
            <a:ext cx="4015530" cy="387696"/>
          </a:xfrm>
          <a:prstGeom prst="rect">
            <a:avLst/>
          </a:prstGeom>
        </p:spPr>
        <p:txBody>
          <a:bodyPr anchor="t" rtlCol="false" tIns="0" lIns="0" bIns="0" rIns="0">
            <a:spAutoFit/>
          </a:bodyPr>
          <a:lstStyle/>
          <a:p>
            <a:pPr algn="l">
              <a:lnSpc>
                <a:spcPts val="2995"/>
              </a:lnSpc>
            </a:pPr>
            <a:r>
              <a:rPr lang="en-US" sz="2400">
                <a:solidFill>
                  <a:srgbClr val="403CCF"/>
                </a:solidFill>
                <a:latin typeface="Libre Baskerville"/>
                <a:ea typeface="Libre Baskerville"/>
                <a:cs typeface="Libre Baskerville"/>
                <a:sym typeface="Libre Baskerville"/>
              </a:rPr>
              <a:t>Project Overview</a:t>
            </a:r>
          </a:p>
        </p:txBody>
      </p:sp>
      <p:sp>
        <p:nvSpPr>
          <p:cNvPr name="TextBox 7" id="7"/>
          <p:cNvSpPr txBox="true"/>
          <p:nvPr/>
        </p:nvSpPr>
        <p:spPr>
          <a:xfrm rot="0">
            <a:off x="992238" y="2109045"/>
            <a:ext cx="12847739" cy="794147"/>
          </a:xfrm>
          <a:prstGeom prst="rect">
            <a:avLst/>
          </a:prstGeom>
        </p:spPr>
        <p:txBody>
          <a:bodyPr anchor="t" rtlCol="false" tIns="0" lIns="0" bIns="0" rIns="0">
            <a:spAutoFit/>
          </a:bodyPr>
          <a:lstStyle/>
          <a:p>
            <a:pPr algn="l">
              <a:lnSpc>
                <a:spcPts val="5990"/>
              </a:lnSpc>
            </a:pPr>
            <a:r>
              <a:rPr lang="en-US" sz="4800">
                <a:solidFill>
                  <a:srgbClr val="403CCF"/>
                </a:solidFill>
                <a:latin typeface="Libre Baskerville"/>
                <a:ea typeface="Libre Baskerville"/>
                <a:cs typeface="Libre Baskerville"/>
                <a:sym typeface="Libre Baskerville"/>
              </a:rPr>
              <a:t>Why Analyze Manufacturing Defects?</a:t>
            </a:r>
          </a:p>
        </p:txBody>
      </p:sp>
      <p:sp>
        <p:nvSpPr>
          <p:cNvPr name="TextBox 8" id="8"/>
          <p:cNvSpPr txBox="true"/>
          <p:nvPr/>
        </p:nvSpPr>
        <p:spPr>
          <a:xfrm rot="0">
            <a:off x="992238" y="3199057"/>
            <a:ext cx="16303523" cy="1266977"/>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Every defect on a production line represents a cost — in materials, labor, time, and customer trust. This project applies systematic data analysis to a real-world manufacturing defects dataset, transforming raw inspection records into clear patterns that drive smarter decisions on the floor.</a:t>
            </a:r>
          </a:p>
        </p:txBody>
      </p:sp>
      <p:grpSp>
        <p:nvGrpSpPr>
          <p:cNvPr name="Group 9" id="9"/>
          <p:cNvGrpSpPr/>
          <p:nvPr/>
        </p:nvGrpSpPr>
        <p:grpSpPr>
          <a:xfrm rot="0">
            <a:off x="992238" y="4745088"/>
            <a:ext cx="8027794" cy="1826266"/>
            <a:chOff x="0" y="0"/>
            <a:chExt cx="10703725" cy="2435022"/>
          </a:xfrm>
        </p:grpSpPr>
        <p:sp>
          <p:nvSpPr>
            <p:cNvPr name="Freeform 10" id="10"/>
            <p:cNvSpPr/>
            <p:nvPr/>
          </p:nvSpPr>
          <p:spPr>
            <a:xfrm flipH="false" flipV="false" rot="0">
              <a:off x="0" y="0"/>
              <a:ext cx="10703814" cy="2435098"/>
            </a:xfrm>
            <a:custGeom>
              <a:avLst/>
              <a:gdLst/>
              <a:ahLst/>
              <a:cxnLst/>
              <a:rect r="r" b="b" t="t" l="l"/>
              <a:pathLst>
                <a:path h="2435098" w="10703814">
                  <a:moveTo>
                    <a:pt x="0" y="49657"/>
                  </a:moveTo>
                  <a:cubicBezTo>
                    <a:pt x="0" y="22225"/>
                    <a:pt x="22225" y="0"/>
                    <a:pt x="49657" y="0"/>
                  </a:cubicBezTo>
                  <a:lnTo>
                    <a:pt x="10654157" y="0"/>
                  </a:lnTo>
                  <a:cubicBezTo>
                    <a:pt x="10681589" y="0"/>
                    <a:pt x="10703814" y="22225"/>
                    <a:pt x="10703814" y="49657"/>
                  </a:cubicBezTo>
                  <a:lnTo>
                    <a:pt x="10703814" y="2385441"/>
                  </a:lnTo>
                  <a:cubicBezTo>
                    <a:pt x="10703814" y="2412873"/>
                    <a:pt x="10681589" y="2435098"/>
                    <a:pt x="10654157" y="2435098"/>
                  </a:cubicBezTo>
                  <a:lnTo>
                    <a:pt x="49657" y="2435098"/>
                  </a:lnTo>
                  <a:cubicBezTo>
                    <a:pt x="22225" y="2435098"/>
                    <a:pt x="0" y="2412873"/>
                    <a:pt x="0" y="2385441"/>
                  </a:cubicBezTo>
                  <a:close/>
                </a:path>
              </a:pathLst>
            </a:custGeom>
            <a:solidFill>
              <a:srgbClr val="EAE8F3"/>
            </a:solidFill>
          </p:spPr>
        </p:sp>
      </p:grpSp>
      <p:sp>
        <p:nvSpPr>
          <p:cNvPr name="TextBox 11" id="11"/>
          <p:cNvSpPr txBox="true"/>
          <p:nvPr/>
        </p:nvSpPr>
        <p:spPr>
          <a:xfrm rot="0">
            <a:off x="1240184" y="4993034"/>
            <a:ext cx="3101130" cy="387696"/>
          </a:xfrm>
          <a:prstGeom prst="rect">
            <a:avLst/>
          </a:prstGeom>
        </p:spPr>
        <p:txBody>
          <a:bodyPr anchor="t" rtlCol="false" tIns="0" lIns="0" bIns="0" rIns="0">
            <a:spAutoFit/>
          </a:bodyPr>
          <a:lstStyle/>
          <a:p>
            <a:pPr algn="l">
              <a:lnSpc>
                <a:spcPts val="2995"/>
              </a:lnSpc>
            </a:pPr>
            <a:r>
              <a:rPr lang="en-US" sz="2400">
                <a:solidFill>
                  <a:srgbClr val="49495A"/>
                </a:solidFill>
                <a:latin typeface="Libre Baskerville"/>
                <a:ea typeface="Libre Baskerville"/>
                <a:cs typeface="Libre Baskerville"/>
                <a:sym typeface="Libre Baskerville"/>
              </a:rPr>
              <a:t>Detect Patterns</a:t>
            </a:r>
          </a:p>
        </p:txBody>
      </p:sp>
      <p:sp>
        <p:nvSpPr>
          <p:cNvPr name="TextBox 12" id="12"/>
          <p:cNvSpPr txBox="true"/>
          <p:nvPr/>
        </p:nvSpPr>
        <p:spPr>
          <a:xfrm rot="0">
            <a:off x="1240184" y="5453358"/>
            <a:ext cx="7531894" cy="870052"/>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Identify which defect types occur most frequently and where they cluster across products and locations.</a:t>
            </a:r>
          </a:p>
        </p:txBody>
      </p:sp>
      <p:grpSp>
        <p:nvGrpSpPr>
          <p:cNvPr name="Group 13" id="13"/>
          <p:cNvGrpSpPr/>
          <p:nvPr/>
        </p:nvGrpSpPr>
        <p:grpSpPr>
          <a:xfrm rot="0">
            <a:off x="9267977" y="4745088"/>
            <a:ext cx="8027794" cy="1826266"/>
            <a:chOff x="0" y="0"/>
            <a:chExt cx="10703725" cy="2435022"/>
          </a:xfrm>
        </p:grpSpPr>
        <p:sp>
          <p:nvSpPr>
            <p:cNvPr name="Freeform 14" id="14"/>
            <p:cNvSpPr/>
            <p:nvPr/>
          </p:nvSpPr>
          <p:spPr>
            <a:xfrm flipH="false" flipV="false" rot="0">
              <a:off x="0" y="0"/>
              <a:ext cx="10703814" cy="2435098"/>
            </a:xfrm>
            <a:custGeom>
              <a:avLst/>
              <a:gdLst/>
              <a:ahLst/>
              <a:cxnLst/>
              <a:rect r="r" b="b" t="t" l="l"/>
              <a:pathLst>
                <a:path h="2435098" w="10703814">
                  <a:moveTo>
                    <a:pt x="0" y="49657"/>
                  </a:moveTo>
                  <a:cubicBezTo>
                    <a:pt x="0" y="22225"/>
                    <a:pt x="22225" y="0"/>
                    <a:pt x="49657" y="0"/>
                  </a:cubicBezTo>
                  <a:lnTo>
                    <a:pt x="10654157" y="0"/>
                  </a:lnTo>
                  <a:cubicBezTo>
                    <a:pt x="10681589" y="0"/>
                    <a:pt x="10703814" y="22225"/>
                    <a:pt x="10703814" y="49657"/>
                  </a:cubicBezTo>
                  <a:lnTo>
                    <a:pt x="10703814" y="2385441"/>
                  </a:lnTo>
                  <a:cubicBezTo>
                    <a:pt x="10703814" y="2412873"/>
                    <a:pt x="10681589" y="2435098"/>
                    <a:pt x="10654157" y="2435098"/>
                  </a:cubicBezTo>
                  <a:lnTo>
                    <a:pt x="49657" y="2435098"/>
                  </a:lnTo>
                  <a:cubicBezTo>
                    <a:pt x="22225" y="2435098"/>
                    <a:pt x="0" y="2412873"/>
                    <a:pt x="0" y="2385441"/>
                  </a:cubicBezTo>
                  <a:close/>
                </a:path>
              </a:pathLst>
            </a:custGeom>
            <a:solidFill>
              <a:srgbClr val="EAE8F3"/>
            </a:solidFill>
          </p:spPr>
        </p:sp>
      </p:grpSp>
      <p:sp>
        <p:nvSpPr>
          <p:cNvPr name="TextBox 15" id="15"/>
          <p:cNvSpPr txBox="true"/>
          <p:nvPr/>
        </p:nvSpPr>
        <p:spPr>
          <a:xfrm rot="0">
            <a:off x="9515923" y="4993034"/>
            <a:ext cx="3101130" cy="387696"/>
          </a:xfrm>
          <a:prstGeom prst="rect">
            <a:avLst/>
          </a:prstGeom>
        </p:spPr>
        <p:txBody>
          <a:bodyPr anchor="t" rtlCol="false" tIns="0" lIns="0" bIns="0" rIns="0">
            <a:spAutoFit/>
          </a:bodyPr>
          <a:lstStyle/>
          <a:p>
            <a:pPr algn="l">
              <a:lnSpc>
                <a:spcPts val="2995"/>
              </a:lnSpc>
            </a:pPr>
            <a:r>
              <a:rPr lang="en-US" sz="2400">
                <a:solidFill>
                  <a:srgbClr val="49495A"/>
                </a:solidFill>
                <a:latin typeface="Libre Baskerville"/>
                <a:ea typeface="Libre Baskerville"/>
                <a:cs typeface="Libre Baskerville"/>
                <a:sym typeface="Libre Baskerville"/>
              </a:rPr>
              <a:t>Quantify Costs</a:t>
            </a:r>
          </a:p>
        </p:txBody>
      </p:sp>
      <p:sp>
        <p:nvSpPr>
          <p:cNvPr name="TextBox 16" id="16"/>
          <p:cNvSpPr txBox="true"/>
          <p:nvPr/>
        </p:nvSpPr>
        <p:spPr>
          <a:xfrm rot="0">
            <a:off x="9515923" y="5453358"/>
            <a:ext cx="7531894" cy="870052"/>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Analyze repair cost distributions to prioritize high-impact defect categories for process improvement.</a:t>
            </a:r>
          </a:p>
        </p:txBody>
      </p:sp>
      <p:grpSp>
        <p:nvGrpSpPr>
          <p:cNvPr name="Group 17" id="17"/>
          <p:cNvGrpSpPr/>
          <p:nvPr/>
        </p:nvGrpSpPr>
        <p:grpSpPr>
          <a:xfrm rot="0">
            <a:off x="992238" y="6819300"/>
            <a:ext cx="8027794" cy="1826266"/>
            <a:chOff x="0" y="0"/>
            <a:chExt cx="10703725" cy="2435022"/>
          </a:xfrm>
        </p:grpSpPr>
        <p:sp>
          <p:nvSpPr>
            <p:cNvPr name="Freeform 18" id="18"/>
            <p:cNvSpPr/>
            <p:nvPr/>
          </p:nvSpPr>
          <p:spPr>
            <a:xfrm flipH="false" flipV="false" rot="0">
              <a:off x="0" y="0"/>
              <a:ext cx="10703814" cy="2435098"/>
            </a:xfrm>
            <a:custGeom>
              <a:avLst/>
              <a:gdLst/>
              <a:ahLst/>
              <a:cxnLst/>
              <a:rect r="r" b="b" t="t" l="l"/>
              <a:pathLst>
                <a:path h="2435098" w="10703814">
                  <a:moveTo>
                    <a:pt x="0" y="49657"/>
                  </a:moveTo>
                  <a:cubicBezTo>
                    <a:pt x="0" y="22225"/>
                    <a:pt x="22225" y="0"/>
                    <a:pt x="49657" y="0"/>
                  </a:cubicBezTo>
                  <a:lnTo>
                    <a:pt x="10654157" y="0"/>
                  </a:lnTo>
                  <a:cubicBezTo>
                    <a:pt x="10681589" y="0"/>
                    <a:pt x="10703814" y="22225"/>
                    <a:pt x="10703814" y="49657"/>
                  </a:cubicBezTo>
                  <a:lnTo>
                    <a:pt x="10703814" y="2385441"/>
                  </a:lnTo>
                  <a:cubicBezTo>
                    <a:pt x="10703814" y="2412873"/>
                    <a:pt x="10681589" y="2435098"/>
                    <a:pt x="10654157" y="2435098"/>
                  </a:cubicBezTo>
                  <a:lnTo>
                    <a:pt x="49657" y="2435098"/>
                  </a:lnTo>
                  <a:cubicBezTo>
                    <a:pt x="22225" y="2435098"/>
                    <a:pt x="0" y="2412873"/>
                    <a:pt x="0" y="2385441"/>
                  </a:cubicBezTo>
                  <a:close/>
                </a:path>
              </a:pathLst>
            </a:custGeom>
            <a:solidFill>
              <a:srgbClr val="EAE8F3"/>
            </a:solidFill>
          </p:spPr>
        </p:sp>
      </p:grpSp>
      <p:sp>
        <p:nvSpPr>
          <p:cNvPr name="TextBox 19" id="19"/>
          <p:cNvSpPr txBox="true"/>
          <p:nvPr/>
        </p:nvSpPr>
        <p:spPr>
          <a:xfrm rot="0">
            <a:off x="1240184" y="7067255"/>
            <a:ext cx="3421561" cy="387696"/>
          </a:xfrm>
          <a:prstGeom prst="rect">
            <a:avLst/>
          </a:prstGeom>
        </p:spPr>
        <p:txBody>
          <a:bodyPr anchor="t" rtlCol="false" tIns="0" lIns="0" bIns="0" rIns="0">
            <a:spAutoFit/>
          </a:bodyPr>
          <a:lstStyle/>
          <a:p>
            <a:pPr algn="l">
              <a:lnSpc>
                <a:spcPts val="2995"/>
              </a:lnSpc>
            </a:pPr>
            <a:r>
              <a:rPr lang="en-US" sz="2400">
                <a:solidFill>
                  <a:srgbClr val="49495A"/>
                </a:solidFill>
                <a:latin typeface="Libre Baskerville"/>
                <a:ea typeface="Libre Baskerville"/>
                <a:cs typeface="Libre Baskerville"/>
                <a:sym typeface="Libre Baskerville"/>
              </a:rPr>
              <a:t>Optimize Inspections</a:t>
            </a:r>
          </a:p>
        </p:txBody>
      </p:sp>
      <p:sp>
        <p:nvSpPr>
          <p:cNvPr name="TextBox 20" id="20"/>
          <p:cNvSpPr txBox="true"/>
          <p:nvPr/>
        </p:nvSpPr>
        <p:spPr>
          <a:xfrm rot="0">
            <a:off x="1240184" y="7527579"/>
            <a:ext cx="7531894" cy="870052"/>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Evaluate which inspection methods catch which defects most effectively to refine quality protocols.</a:t>
            </a:r>
          </a:p>
        </p:txBody>
      </p:sp>
      <p:grpSp>
        <p:nvGrpSpPr>
          <p:cNvPr name="Group 21" id="21"/>
          <p:cNvGrpSpPr/>
          <p:nvPr/>
        </p:nvGrpSpPr>
        <p:grpSpPr>
          <a:xfrm rot="0">
            <a:off x="9267977" y="6819300"/>
            <a:ext cx="8027794" cy="1826266"/>
            <a:chOff x="0" y="0"/>
            <a:chExt cx="10703725" cy="2435022"/>
          </a:xfrm>
        </p:grpSpPr>
        <p:sp>
          <p:nvSpPr>
            <p:cNvPr name="Freeform 22" id="22"/>
            <p:cNvSpPr/>
            <p:nvPr/>
          </p:nvSpPr>
          <p:spPr>
            <a:xfrm flipH="false" flipV="false" rot="0">
              <a:off x="0" y="0"/>
              <a:ext cx="10703814" cy="2435098"/>
            </a:xfrm>
            <a:custGeom>
              <a:avLst/>
              <a:gdLst/>
              <a:ahLst/>
              <a:cxnLst/>
              <a:rect r="r" b="b" t="t" l="l"/>
              <a:pathLst>
                <a:path h="2435098" w="10703814">
                  <a:moveTo>
                    <a:pt x="0" y="49657"/>
                  </a:moveTo>
                  <a:cubicBezTo>
                    <a:pt x="0" y="22225"/>
                    <a:pt x="22225" y="0"/>
                    <a:pt x="49657" y="0"/>
                  </a:cubicBezTo>
                  <a:lnTo>
                    <a:pt x="10654157" y="0"/>
                  </a:lnTo>
                  <a:cubicBezTo>
                    <a:pt x="10681589" y="0"/>
                    <a:pt x="10703814" y="22225"/>
                    <a:pt x="10703814" y="49657"/>
                  </a:cubicBezTo>
                  <a:lnTo>
                    <a:pt x="10703814" y="2385441"/>
                  </a:lnTo>
                  <a:cubicBezTo>
                    <a:pt x="10703814" y="2412873"/>
                    <a:pt x="10681589" y="2435098"/>
                    <a:pt x="10654157" y="2435098"/>
                  </a:cubicBezTo>
                  <a:lnTo>
                    <a:pt x="49657" y="2435098"/>
                  </a:lnTo>
                  <a:cubicBezTo>
                    <a:pt x="22225" y="2435098"/>
                    <a:pt x="0" y="2412873"/>
                    <a:pt x="0" y="2385441"/>
                  </a:cubicBezTo>
                  <a:close/>
                </a:path>
              </a:pathLst>
            </a:custGeom>
            <a:solidFill>
              <a:srgbClr val="EAE8F3"/>
            </a:solidFill>
          </p:spPr>
        </p:sp>
      </p:grpSp>
      <p:sp>
        <p:nvSpPr>
          <p:cNvPr name="TextBox 23" id="23"/>
          <p:cNvSpPr txBox="true"/>
          <p:nvPr/>
        </p:nvSpPr>
        <p:spPr>
          <a:xfrm rot="0">
            <a:off x="9515923" y="7067255"/>
            <a:ext cx="3101130" cy="387696"/>
          </a:xfrm>
          <a:prstGeom prst="rect">
            <a:avLst/>
          </a:prstGeom>
        </p:spPr>
        <p:txBody>
          <a:bodyPr anchor="t" rtlCol="false" tIns="0" lIns="0" bIns="0" rIns="0">
            <a:spAutoFit/>
          </a:bodyPr>
          <a:lstStyle/>
          <a:p>
            <a:pPr algn="l">
              <a:lnSpc>
                <a:spcPts val="2995"/>
              </a:lnSpc>
            </a:pPr>
            <a:r>
              <a:rPr lang="en-US" sz="2400">
                <a:solidFill>
                  <a:srgbClr val="49495A"/>
                </a:solidFill>
                <a:latin typeface="Libre Baskerville"/>
                <a:ea typeface="Libre Baskerville"/>
                <a:cs typeface="Libre Baskerville"/>
                <a:sym typeface="Libre Baskerville"/>
              </a:rPr>
              <a:t>Reduce Severity</a:t>
            </a:r>
          </a:p>
        </p:txBody>
      </p:sp>
      <p:sp>
        <p:nvSpPr>
          <p:cNvPr name="TextBox 24" id="24"/>
          <p:cNvSpPr txBox="true"/>
          <p:nvPr/>
        </p:nvSpPr>
        <p:spPr>
          <a:xfrm rot="0">
            <a:off x="9515923" y="7527579"/>
            <a:ext cx="7531894" cy="870052"/>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Map severity levels against product lines to focus resources on the most critical failure modes.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727472"/>
            <a:ext cx="4015530" cy="387696"/>
          </a:xfrm>
          <a:prstGeom prst="rect">
            <a:avLst/>
          </a:prstGeom>
        </p:spPr>
        <p:txBody>
          <a:bodyPr anchor="t" rtlCol="false" tIns="0" lIns="0" bIns="0" rIns="0">
            <a:spAutoFit/>
          </a:bodyPr>
          <a:lstStyle/>
          <a:p>
            <a:pPr algn="l">
              <a:lnSpc>
                <a:spcPts val="2995"/>
              </a:lnSpc>
            </a:pPr>
            <a:r>
              <a:rPr lang="en-US" sz="2400">
                <a:solidFill>
                  <a:srgbClr val="403CCF"/>
                </a:solidFill>
                <a:latin typeface="Libre Baskerville"/>
                <a:ea typeface="Libre Baskerville"/>
                <a:cs typeface="Libre Baskerville"/>
                <a:sym typeface="Libre Baskerville"/>
              </a:rPr>
              <a:t>Dataset</a:t>
            </a:r>
          </a:p>
        </p:txBody>
      </p:sp>
      <p:sp>
        <p:nvSpPr>
          <p:cNvPr name="TextBox 7" id="7"/>
          <p:cNvSpPr txBox="true"/>
          <p:nvPr/>
        </p:nvSpPr>
        <p:spPr>
          <a:xfrm rot="0">
            <a:off x="992238" y="1195235"/>
            <a:ext cx="8497938" cy="794147"/>
          </a:xfrm>
          <a:prstGeom prst="rect">
            <a:avLst/>
          </a:prstGeom>
        </p:spPr>
        <p:txBody>
          <a:bodyPr anchor="t" rtlCol="false" tIns="0" lIns="0" bIns="0" rIns="0">
            <a:spAutoFit/>
          </a:bodyPr>
          <a:lstStyle/>
          <a:p>
            <a:pPr algn="l">
              <a:lnSpc>
                <a:spcPts val="5990"/>
              </a:lnSpc>
            </a:pPr>
            <a:r>
              <a:rPr lang="en-US" sz="4800">
                <a:solidFill>
                  <a:srgbClr val="403CCF"/>
                </a:solidFill>
                <a:latin typeface="Libre Baskerville"/>
                <a:ea typeface="Libre Baskerville"/>
                <a:cs typeface="Libre Baskerville"/>
                <a:sym typeface="Libre Baskerville"/>
              </a:rPr>
              <a:t>What the Data Contains</a:t>
            </a:r>
          </a:p>
        </p:txBody>
      </p:sp>
      <p:sp>
        <p:nvSpPr>
          <p:cNvPr name="TextBox 8" id="8"/>
          <p:cNvSpPr txBox="true"/>
          <p:nvPr/>
        </p:nvSpPr>
        <p:spPr>
          <a:xfrm rot="0">
            <a:off x="992238" y="2285257"/>
            <a:ext cx="16303523" cy="1266977"/>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The analysis is built on a structured manufacturing defects dataset. Each record captures a single defect event, providing a comprehensive view of what went wrong, where, when, and at what cost. The dataset supports multi-dimensional analysis across time, product, location, and severity.</a:t>
            </a:r>
          </a:p>
        </p:txBody>
      </p:sp>
      <p:grpSp>
        <p:nvGrpSpPr>
          <p:cNvPr name="Group 9" id="9"/>
          <p:cNvGrpSpPr/>
          <p:nvPr/>
        </p:nvGrpSpPr>
        <p:grpSpPr>
          <a:xfrm rot="0">
            <a:off x="987476" y="3826516"/>
            <a:ext cx="16313048" cy="5737622"/>
            <a:chOff x="0" y="0"/>
            <a:chExt cx="21750731" cy="7650162"/>
          </a:xfrm>
        </p:grpSpPr>
        <p:sp>
          <p:nvSpPr>
            <p:cNvPr name="Freeform 10" id="10"/>
            <p:cNvSpPr/>
            <p:nvPr/>
          </p:nvSpPr>
          <p:spPr>
            <a:xfrm flipH="false" flipV="false" rot="0">
              <a:off x="0" y="0"/>
              <a:ext cx="21750782" cy="7650226"/>
            </a:xfrm>
            <a:custGeom>
              <a:avLst/>
              <a:gdLst/>
              <a:ahLst/>
              <a:cxnLst/>
              <a:rect r="r" b="b" t="t" l="l"/>
              <a:pathLst>
                <a:path h="7650226" w="21750782">
                  <a:moveTo>
                    <a:pt x="0" y="49784"/>
                  </a:moveTo>
                  <a:cubicBezTo>
                    <a:pt x="0" y="22225"/>
                    <a:pt x="22225" y="0"/>
                    <a:pt x="49784" y="0"/>
                  </a:cubicBezTo>
                  <a:lnTo>
                    <a:pt x="21700998" y="0"/>
                  </a:lnTo>
                  <a:cubicBezTo>
                    <a:pt x="21728430" y="0"/>
                    <a:pt x="21750782" y="22225"/>
                    <a:pt x="21750782" y="49784"/>
                  </a:cubicBezTo>
                  <a:lnTo>
                    <a:pt x="21750782" y="7600442"/>
                  </a:lnTo>
                  <a:cubicBezTo>
                    <a:pt x="21750782" y="7627874"/>
                    <a:pt x="21728557" y="7650226"/>
                    <a:pt x="21700998" y="7650226"/>
                  </a:cubicBezTo>
                  <a:lnTo>
                    <a:pt x="49784" y="7650226"/>
                  </a:lnTo>
                  <a:cubicBezTo>
                    <a:pt x="22352" y="7650226"/>
                    <a:pt x="0" y="7628001"/>
                    <a:pt x="0" y="7600442"/>
                  </a:cubicBezTo>
                  <a:close/>
                </a:path>
              </a:pathLst>
            </a:custGeom>
            <a:blipFill>
              <a:blip r:embed="rId2">
                <a:alphaModFix amt="0"/>
              </a:blip>
              <a:stretch>
                <a:fillRect l="0" t="-5399" r="0" b="-5398"/>
              </a:stretch>
            </a:blipFill>
            <a:ln w="9526" cap="sq">
              <a:solidFill>
                <a:srgbClr val="000000"/>
              </a:solidFill>
              <a:prstDash val="solid"/>
              <a:miter/>
            </a:ln>
          </p:spPr>
        </p:sp>
      </p:grpSp>
      <p:grpSp>
        <p:nvGrpSpPr>
          <p:cNvPr name="Group 11" id="11"/>
          <p:cNvGrpSpPr/>
          <p:nvPr/>
        </p:nvGrpSpPr>
        <p:grpSpPr>
          <a:xfrm rot="0">
            <a:off x="1001763" y="3840804"/>
            <a:ext cx="16284473" cy="713632"/>
            <a:chOff x="0" y="0"/>
            <a:chExt cx="21712631" cy="951509"/>
          </a:xfrm>
        </p:grpSpPr>
        <p:sp>
          <p:nvSpPr>
            <p:cNvPr name="Freeform 12" id="12"/>
            <p:cNvSpPr/>
            <p:nvPr/>
          </p:nvSpPr>
          <p:spPr>
            <a:xfrm flipH="false" flipV="false" rot="0">
              <a:off x="0" y="0"/>
              <a:ext cx="21712682" cy="951484"/>
            </a:xfrm>
            <a:custGeom>
              <a:avLst/>
              <a:gdLst/>
              <a:ahLst/>
              <a:cxnLst/>
              <a:rect r="r" b="b" t="t" l="l"/>
              <a:pathLst>
                <a:path h="951484" w="21712682">
                  <a:moveTo>
                    <a:pt x="0" y="0"/>
                  </a:moveTo>
                  <a:lnTo>
                    <a:pt x="21712682" y="0"/>
                  </a:lnTo>
                  <a:lnTo>
                    <a:pt x="21712682" y="951484"/>
                  </a:lnTo>
                  <a:lnTo>
                    <a:pt x="0" y="951484"/>
                  </a:lnTo>
                  <a:close/>
                </a:path>
              </a:pathLst>
            </a:custGeom>
            <a:solidFill>
              <a:srgbClr val="FFFFFF">
                <a:alpha val="0"/>
              </a:srgbClr>
            </a:solidFill>
          </p:spPr>
        </p:sp>
      </p:grpSp>
      <p:sp>
        <p:nvSpPr>
          <p:cNvPr name="TextBox 13" id="13"/>
          <p:cNvSpPr txBox="true"/>
          <p:nvPr/>
        </p:nvSpPr>
        <p:spPr>
          <a:xfrm rot="0">
            <a:off x="1249861" y="3922957"/>
            <a:ext cx="4484789" cy="473126"/>
          </a:xfrm>
          <a:prstGeom prst="rect">
            <a:avLst/>
          </a:prstGeom>
        </p:spPr>
        <p:txBody>
          <a:bodyPr anchor="t" rtlCol="false" tIns="0" lIns="0" bIns="0" rIns="0">
            <a:spAutoFit/>
          </a:bodyPr>
          <a:lstStyle/>
          <a:p>
            <a:pPr algn="l">
              <a:lnSpc>
                <a:spcPts val="3032"/>
              </a:lnSpc>
            </a:pPr>
            <a:r>
              <a:rPr lang="en-US" sz="1900" b="true">
                <a:solidFill>
                  <a:srgbClr val="49495A"/>
                </a:solidFill>
                <a:latin typeface="Open Sans Bold"/>
                <a:ea typeface="Open Sans Bold"/>
                <a:cs typeface="Open Sans Bold"/>
                <a:sym typeface="Open Sans Bold"/>
              </a:rPr>
              <a:t>Defect ID</a:t>
            </a:r>
          </a:p>
        </p:txBody>
      </p:sp>
      <p:sp>
        <p:nvSpPr>
          <p:cNvPr name="TextBox 14" id="14"/>
          <p:cNvSpPr txBox="true"/>
          <p:nvPr/>
        </p:nvSpPr>
        <p:spPr>
          <a:xfrm rot="0">
            <a:off x="5325666" y="3922957"/>
            <a:ext cx="12627026" cy="473126"/>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Unique identifier for each recorded defect event</a:t>
            </a:r>
          </a:p>
        </p:txBody>
      </p:sp>
      <p:grpSp>
        <p:nvGrpSpPr>
          <p:cNvPr name="Group 15" id="15"/>
          <p:cNvGrpSpPr/>
          <p:nvPr/>
        </p:nvGrpSpPr>
        <p:grpSpPr>
          <a:xfrm rot="0">
            <a:off x="1001763" y="4554436"/>
            <a:ext cx="16284473" cy="713632"/>
            <a:chOff x="0" y="0"/>
            <a:chExt cx="21712631" cy="951509"/>
          </a:xfrm>
        </p:grpSpPr>
        <p:sp>
          <p:nvSpPr>
            <p:cNvPr name="Freeform 16" id="16"/>
            <p:cNvSpPr/>
            <p:nvPr/>
          </p:nvSpPr>
          <p:spPr>
            <a:xfrm flipH="false" flipV="false" rot="0">
              <a:off x="0" y="0"/>
              <a:ext cx="21712682" cy="951484"/>
            </a:xfrm>
            <a:custGeom>
              <a:avLst/>
              <a:gdLst/>
              <a:ahLst/>
              <a:cxnLst/>
              <a:rect r="r" b="b" t="t" l="l"/>
              <a:pathLst>
                <a:path h="951484" w="21712682">
                  <a:moveTo>
                    <a:pt x="0" y="0"/>
                  </a:moveTo>
                  <a:lnTo>
                    <a:pt x="21712682" y="0"/>
                  </a:lnTo>
                  <a:lnTo>
                    <a:pt x="21712682" y="951484"/>
                  </a:lnTo>
                  <a:lnTo>
                    <a:pt x="0" y="951484"/>
                  </a:lnTo>
                  <a:close/>
                </a:path>
              </a:pathLst>
            </a:custGeom>
            <a:solidFill>
              <a:srgbClr val="000000">
                <a:alpha val="0"/>
              </a:srgbClr>
            </a:solidFill>
          </p:spPr>
        </p:sp>
      </p:grpSp>
      <p:sp>
        <p:nvSpPr>
          <p:cNvPr name="TextBox 17" id="17"/>
          <p:cNvSpPr txBox="true"/>
          <p:nvPr/>
        </p:nvSpPr>
        <p:spPr>
          <a:xfrm rot="0">
            <a:off x="1249861" y="4636589"/>
            <a:ext cx="4484789" cy="473126"/>
          </a:xfrm>
          <a:prstGeom prst="rect">
            <a:avLst/>
          </a:prstGeom>
        </p:spPr>
        <p:txBody>
          <a:bodyPr anchor="t" rtlCol="false" tIns="0" lIns="0" bIns="0" rIns="0">
            <a:spAutoFit/>
          </a:bodyPr>
          <a:lstStyle/>
          <a:p>
            <a:pPr algn="l">
              <a:lnSpc>
                <a:spcPts val="3032"/>
              </a:lnSpc>
            </a:pPr>
            <a:r>
              <a:rPr lang="en-US" sz="1900" b="true">
                <a:solidFill>
                  <a:srgbClr val="49495A"/>
                </a:solidFill>
                <a:latin typeface="Open Sans Bold"/>
                <a:ea typeface="Open Sans Bold"/>
                <a:cs typeface="Open Sans Bold"/>
                <a:sym typeface="Open Sans Bold"/>
              </a:rPr>
              <a:t>Product ID</a:t>
            </a:r>
          </a:p>
        </p:txBody>
      </p:sp>
      <p:sp>
        <p:nvSpPr>
          <p:cNvPr name="TextBox 18" id="18"/>
          <p:cNvSpPr txBox="true"/>
          <p:nvPr/>
        </p:nvSpPr>
        <p:spPr>
          <a:xfrm rot="0">
            <a:off x="5325666" y="4636589"/>
            <a:ext cx="12627026" cy="473126"/>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Links the defect to a specific product or SKU in the production line</a:t>
            </a:r>
          </a:p>
        </p:txBody>
      </p:sp>
      <p:grpSp>
        <p:nvGrpSpPr>
          <p:cNvPr name="Group 19" id="19"/>
          <p:cNvGrpSpPr/>
          <p:nvPr/>
        </p:nvGrpSpPr>
        <p:grpSpPr>
          <a:xfrm rot="0">
            <a:off x="1001763" y="5268068"/>
            <a:ext cx="16284473" cy="713632"/>
            <a:chOff x="0" y="0"/>
            <a:chExt cx="21712631" cy="951509"/>
          </a:xfrm>
        </p:grpSpPr>
        <p:sp>
          <p:nvSpPr>
            <p:cNvPr name="Freeform 20" id="20"/>
            <p:cNvSpPr/>
            <p:nvPr/>
          </p:nvSpPr>
          <p:spPr>
            <a:xfrm flipH="false" flipV="false" rot="0">
              <a:off x="0" y="0"/>
              <a:ext cx="21712682" cy="951484"/>
            </a:xfrm>
            <a:custGeom>
              <a:avLst/>
              <a:gdLst/>
              <a:ahLst/>
              <a:cxnLst/>
              <a:rect r="r" b="b" t="t" l="l"/>
              <a:pathLst>
                <a:path h="951484" w="21712682">
                  <a:moveTo>
                    <a:pt x="0" y="0"/>
                  </a:moveTo>
                  <a:lnTo>
                    <a:pt x="21712682" y="0"/>
                  </a:lnTo>
                  <a:lnTo>
                    <a:pt x="21712682" y="951484"/>
                  </a:lnTo>
                  <a:lnTo>
                    <a:pt x="0" y="951484"/>
                  </a:lnTo>
                  <a:close/>
                </a:path>
              </a:pathLst>
            </a:custGeom>
            <a:solidFill>
              <a:srgbClr val="FFFFFF">
                <a:alpha val="0"/>
              </a:srgbClr>
            </a:solidFill>
          </p:spPr>
        </p:sp>
      </p:grpSp>
      <p:sp>
        <p:nvSpPr>
          <p:cNvPr name="TextBox 21" id="21"/>
          <p:cNvSpPr txBox="true"/>
          <p:nvPr/>
        </p:nvSpPr>
        <p:spPr>
          <a:xfrm rot="0">
            <a:off x="1249861" y="5350221"/>
            <a:ext cx="4484789" cy="473126"/>
          </a:xfrm>
          <a:prstGeom prst="rect">
            <a:avLst/>
          </a:prstGeom>
        </p:spPr>
        <p:txBody>
          <a:bodyPr anchor="t" rtlCol="false" tIns="0" lIns="0" bIns="0" rIns="0">
            <a:spAutoFit/>
          </a:bodyPr>
          <a:lstStyle/>
          <a:p>
            <a:pPr algn="l">
              <a:lnSpc>
                <a:spcPts val="3032"/>
              </a:lnSpc>
            </a:pPr>
            <a:r>
              <a:rPr lang="en-US" sz="1900" b="true">
                <a:solidFill>
                  <a:srgbClr val="49495A"/>
                </a:solidFill>
                <a:latin typeface="Open Sans Bold"/>
                <a:ea typeface="Open Sans Bold"/>
                <a:cs typeface="Open Sans Bold"/>
                <a:sym typeface="Open Sans Bold"/>
              </a:rPr>
              <a:t>Defect Type</a:t>
            </a:r>
          </a:p>
        </p:txBody>
      </p:sp>
      <p:sp>
        <p:nvSpPr>
          <p:cNvPr name="TextBox 22" id="22"/>
          <p:cNvSpPr txBox="true"/>
          <p:nvPr/>
        </p:nvSpPr>
        <p:spPr>
          <a:xfrm rot="0">
            <a:off x="5325666" y="5350221"/>
            <a:ext cx="12627026" cy="473126"/>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Categorizes the failure — Structural, Functional, or Cosmetic</a:t>
            </a:r>
          </a:p>
        </p:txBody>
      </p:sp>
      <p:grpSp>
        <p:nvGrpSpPr>
          <p:cNvPr name="Group 23" id="23"/>
          <p:cNvGrpSpPr/>
          <p:nvPr/>
        </p:nvGrpSpPr>
        <p:grpSpPr>
          <a:xfrm rot="0">
            <a:off x="1001763" y="5981700"/>
            <a:ext cx="16284473" cy="713632"/>
            <a:chOff x="0" y="0"/>
            <a:chExt cx="21712631" cy="951509"/>
          </a:xfrm>
        </p:grpSpPr>
        <p:sp>
          <p:nvSpPr>
            <p:cNvPr name="Freeform 24" id="24"/>
            <p:cNvSpPr/>
            <p:nvPr/>
          </p:nvSpPr>
          <p:spPr>
            <a:xfrm flipH="false" flipV="false" rot="0">
              <a:off x="0" y="0"/>
              <a:ext cx="21712682" cy="951484"/>
            </a:xfrm>
            <a:custGeom>
              <a:avLst/>
              <a:gdLst/>
              <a:ahLst/>
              <a:cxnLst/>
              <a:rect r="r" b="b" t="t" l="l"/>
              <a:pathLst>
                <a:path h="951484" w="21712682">
                  <a:moveTo>
                    <a:pt x="0" y="0"/>
                  </a:moveTo>
                  <a:lnTo>
                    <a:pt x="21712682" y="0"/>
                  </a:lnTo>
                  <a:lnTo>
                    <a:pt x="21712682" y="951484"/>
                  </a:lnTo>
                  <a:lnTo>
                    <a:pt x="0" y="951484"/>
                  </a:lnTo>
                  <a:close/>
                </a:path>
              </a:pathLst>
            </a:custGeom>
            <a:solidFill>
              <a:srgbClr val="000000">
                <a:alpha val="0"/>
              </a:srgbClr>
            </a:solidFill>
          </p:spPr>
        </p:sp>
      </p:grpSp>
      <p:sp>
        <p:nvSpPr>
          <p:cNvPr name="TextBox 25" id="25"/>
          <p:cNvSpPr txBox="true"/>
          <p:nvPr/>
        </p:nvSpPr>
        <p:spPr>
          <a:xfrm rot="0">
            <a:off x="1249861" y="6063853"/>
            <a:ext cx="4484789" cy="473126"/>
          </a:xfrm>
          <a:prstGeom prst="rect">
            <a:avLst/>
          </a:prstGeom>
        </p:spPr>
        <p:txBody>
          <a:bodyPr anchor="t" rtlCol="false" tIns="0" lIns="0" bIns="0" rIns="0">
            <a:spAutoFit/>
          </a:bodyPr>
          <a:lstStyle/>
          <a:p>
            <a:pPr algn="l">
              <a:lnSpc>
                <a:spcPts val="3032"/>
              </a:lnSpc>
            </a:pPr>
            <a:r>
              <a:rPr lang="en-US" sz="1900" b="true">
                <a:solidFill>
                  <a:srgbClr val="49495A"/>
                </a:solidFill>
                <a:latin typeface="Open Sans Bold"/>
                <a:ea typeface="Open Sans Bold"/>
                <a:cs typeface="Open Sans Bold"/>
                <a:sym typeface="Open Sans Bold"/>
              </a:rPr>
              <a:t>Defect Date</a:t>
            </a:r>
          </a:p>
        </p:txBody>
      </p:sp>
      <p:sp>
        <p:nvSpPr>
          <p:cNvPr name="TextBox 26" id="26"/>
          <p:cNvSpPr txBox="true"/>
          <p:nvPr/>
        </p:nvSpPr>
        <p:spPr>
          <a:xfrm rot="0">
            <a:off x="5325666" y="6063853"/>
            <a:ext cx="12627026" cy="473126"/>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Timestamp enabling time-series and trend analysis</a:t>
            </a:r>
          </a:p>
        </p:txBody>
      </p:sp>
      <p:grpSp>
        <p:nvGrpSpPr>
          <p:cNvPr name="Group 27" id="27"/>
          <p:cNvGrpSpPr/>
          <p:nvPr/>
        </p:nvGrpSpPr>
        <p:grpSpPr>
          <a:xfrm rot="0">
            <a:off x="1001763" y="6695332"/>
            <a:ext cx="16284473" cy="713632"/>
            <a:chOff x="0" y="0"/>
            <a:chExt cx="21712631" cy="951509"/>
          </a:xfrm>
        </p:grpSpPr>
        <p:sp>
          <p:nvSpPr>
            <p:cNvPr name="Freeform 28" id="28"/>
            <p:cNvSpPr/>
            <p:nvPr/>
          </p:nvSpPr>
          <p:spPr>
            <a:xfrm flipH="false" flipV="false" rot="0">
              <a:off x="0" y="0"/>
              <a:ext cx="21712682" cy="951484"/>
            </a:xfrm>
            <a:custGeom>
              <a:avLst/>
              <a:gdLst/>
              <a:ahLst/>
              <a:cxnLst/>
              <a:rect r="r" b="b" t="t" l="l"/>
              <a:pathLst>
                <a:path h="951484" w="21712682">
                  <a:moveTo>
                    <a:pt x="0" y="0"/>
                  </a:moveTo>
                  <a:lnTo>
                    <a:pt x="21712682" y="0"/>
                  </a:lnTo>
                  <a:lnTo>
                    <a:pt x="21712682" y="951484"/>
                  </a:lnTo>
                  <a:lnTo>
                    <a:pt x="0" y="951484"/>
                  </a:lnTo>
                  <a:close/>
                </a:path>
              </a:pathLst>
            </a:custGeom>
            <a:solidFill>
              <a:srgbClr val="FFFFFF">
                <a:alpha val="0"/>
              </a:srgbClr>
            </a:solidFill>
          </p:spPr>
        </p:sp>
      </p:grpSp>
      <p:sp>
        <p:nvSpPr>
          <p:cNvPr name="TextBox 29" id="29"/>
          <p:cNvSpPr txBox="true"/>
          <p:nvPr/>
        </p:nvSpPr>
        <p:spPr>
          <a:xfrm rot="0">
            <a:off x="1249861" y="6777485"/>
            <a:ext cx="4484789" cy="473126"/>
          </a:xfrm>
          <a:prstGeom prst="rect">
            <a:avLst/>
          </a:prstGeom>
        </p:spPr>
        <p:txBody>
          <a:bodyPr anchor="t" rtlCol="false" tIns="0" lIns="0" bIns="0" rIns="0">
            <a:spAutoFit/>
          </a:bodyPr>
          <a:lstStyle/>
          <a:p>
            <a:pPr algn="l">
              <a:lnSpc>
                <a:spcPts val="3032"/>
              </a:lnSpc>
            </a:pPr>
            <a:r>
              <a:rPr lang="en-US" sz="1900" b="true">
                <a:solidFill>
                  <a:srgbClr val="49495A"/>
                </a:solidFill>
                <a:latin typeface="Open Sans Bold"/>
                <a:ea typeface="Open Sans Bold"/>
                <a:cs typeface="Open Sans Bold"/>
                <a:sym typeface="Open Sans Bold"/>
              </a:rPr>
              <a:t>Defect Location</a:t>
            </a:r>
          </a:p>
        </p:txBody>
      </p:sp>
      <p:sp>
        <p:nvSpPr>
          <p:cNvPr name="TextBox 30" id="30"/>
          <p:cNvSpPr txBox="true"/>
          <p:nvPr/>
        </p:nvSpPr>
        <p:spPr>
          <a:xfrm rot="0">
            <a:off x="5325666" y="6777485"/>
            <a:ext cx="12627026" cy="473126"/>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Physical location on the product where the defect was found</a:t>
            </a:r>
          </a:p>
        </p:txBody>
      </p:sp>
      <p:grpSp>
        <p:nvGrpSpPr>
          <p:cNvPr name="Group 31" id="31"/>
          <p:cNvGrpSpPr/>
          <p:nvPr/>
        </p:nvGrpSpPr>
        <p:grpSpPr>
          <a:xfrm rot="0">
            <a:off x="1001763" y="7408964"/>
            <a:ext cx="16284473" cy="713632"/>
            <a:chOff x="0" y="0"/>
            <a:chExt cx="21712631" cy="951509"/>
          </a:xfrm>
        </p:grpSpPr>
        <p:sp>
          <p:nvSpPr>
            <p:cNvPr name="Freeform 32" id="32"/>
            <p:cNvSpPr/>
            <p:nvPr/>
          </p:nvSpPr>
          <p:spPr>
            <a:xfrm flipH="false" flipV="false" rot="0">
              <a:off x="0" y="0"/>
              <a:ext cx="21712682" cy="951484"/>
            </a:xfrm>
            <a:custGeom>
              <a:avLst/>
              <a:gdLst/>
              <a:ahLst/>
              <a:cxnLst/>
              <a:rect r="r" b="b" t="t" l="l"/>
              <a:pathLst>
                <a:path h="951484" w="21712682">
                  <a:moveTo>
                    <a:pt x="0" y="0"/>
                  </a:moveTo>
                  <a:lnTo>
                    <a:pt x="21712682" y="0"/>
                  </a:lnTo>
                  <a:lnTo>
                    <a:pt x="21712682" y="951484"/>
                  </a:lnTo>
                  <a:lnTo>
                    <a:pt x="0" y="951484"/>
                  </a:lnTo>
                  <a:close/>
                </a:path>
              </a:pathLst>
            </a:custGeom>
            <a:solidFill>
              <a:srgbClr val="000000">
                <a:alpha val="0"/>
              </a:srgbClr>
            </a:solidFill>
          </p:spPr>
        </p:sp>
      </p:grpSp>
      <p:sp>
        <p:nvSpPr>
          <p:cNvPr name="TextBox 33" id="33"/>
          <p:cNvSpPr txBox="true"/>
          <p:nvPr/>
        </p:nvSpPr>
        <p:spPr>
          <a:xfrm rot="0">
            <a:off x="1249861" y="7491117"/>
            <a:ext cx="4484789" cy="473126"/>
          </a:xfrm>
          <a:prstGeom prst="rect">
            <a:avLst/>
          </a:prstGeom>
        </p:spPr>
        <p:txBody>
          <a:bodyPr anchor="t" rtlCol="false" tIns="0" lIns="0" bIns="0" rIns="0">
            <a:spAutoFit/>
          </a:bodyPr>
          <a:lstStyle/>
          <a:p>
            <a:pPr algn="l">
              <a:lnSpc>
                <a:spcPts val="3032"/>
              </a:lnSpc>
            </a:pPr>
            <a:r>
              <a:rPr lang="en-US" sz="1900" b="true">
                <a:solidFill>
                  <a:srgbClr val="49495A"/>
                </a:solidFill>
                <a:latin typeface="Open Sans Bold"/>
                <a:ea typeface="Open Sans Bold"/>
                <a:cs typeface="Open Sans Bold"/>
                <a:sym typeface="Open Sans Bold"/>
              </a:rPr>
              <a:t>Severity</a:t>
            </a:r>
          </a:p>
        </p:txBody>
      </p:sp>
      <p:sp>
        <p:nvSpPr>
          <p:cNvPr name="TextBox 34" id="34"/>
          <p:cNvSpPr txBox="true"/>
          <p:nvPr/>
        </p:nvSpPr>
        <p:spPr>
          <a:xfrm rot="0">
            <a:off x="5325666" y="7491117"/>
            <a:ext cx="12627026" cy="473126"/>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Ranking of defect criticality from minor to critical</a:t>
            </a:r>
          </a:p>
        </p:txBody>
      </p:sp>
      <p:grpSp>
        <p:nvGrpSpPr>
          <p:cNvPr name="Group 35" id="35"/>
          <p:cNvGrpSpPr/>
          <p:nvPr/>
        </p:nvGrpSpPr>
        <p:grpSpPr>
          <a:xfrm rot="0">
            <a:off x="1001763" y="8122596"/>
            <a:ext cx="16284473" cy="713632"/>
            <a:chOff x="0" y="0"/>
            <a:chExt cx="21712631" cy="951509"/>
          </a:xfrm>
        </p:grpSpPr>
        <p:sp>
          <p:nvSpPr>
            <p:cNvPr name="Freeform 36" id="36"/>
            <p:cNvSpPr/>
            <p:nvPr/>
          </p:nvSpPr>
          <p:spPr>
            <a:xfrm flipH="false" flipV="false" rot="0">
              <a:off x="0" y="0"/>
              <a:ext cx="21712682" cy="951484"/>
            </a:xfrm>
            <a:custGeom>
              <a:avLst/>
              <a:gdLst/>
              <a:ahLst/>
              <a:cxnLst/>
              <a:rect r="r" b="b" t="t" l="l"/>
              <a:pathLst>
                <a:path h="951484" w="21712682">
                  <a:moveTo>
                    <a:pt x="0" y="0"/>
                  </a:moveTo>
                  <a:lnTo>
                    <a:pt x="21712682" y="0"/>
                  </a:lnTo>
                  <a:lnTo>
                    <a:pt x="21712682" y="951484"/>
                  </a:lnTo>
                  <a:lnTo>
                    <a:pt x="0" y="951484"/>
                  </a:lnTo>
                  <a:close/>
                </a:path>
              </a:pathLst>
            </a:custGeom>
            <a:solidFill>
              <a:srgbClr val="FFFFFF">
                <a:alpha val="0"/>
              </a:srgbClr>
            </a:solidFill>
          </p:spPr>
        </p:sp>
      </p:grpSp>
      <p:sp>
        <p:nvSpPr>
          <p:cNvPr name="TextBox 37" id="37"/>
          <p:cNvSpPr txBox="true"/>
          <p:nvPr/>
        </p:nvSpPr>
        <p:spPr>
          <a:xfrm rot="0">
            <a:off x="1249861" y="8204749"/>
            <a:ext cx="4484789" cy="473126"/>
          </a:xfrm>
          <a:prstGeom prst="rect">
            <a:avLst/>
          </a:prstGeom>
        </p:spPr>
        <p:txBody>
          <a:bodyPr anchor="t" rtlCol="false" tIns="0" lIns="0" bIns="0" rIns="0">
            <a:spAutoFit/>
          </a:bodyPr>
          <a:lstStyle/>
          <a:p>
            <a:pPr algn="l">
              <a:lnSpc>
                <a:spcPts val="3032"/>
              </a:lnSpc>
            </a:pPr>
            <a:r>
              <a:rPr lang="en-US" sz="1900" b="true">
                <a:solidFill>
                  <a:srgbClr val="49495A"/>
                </a:solidFill>
                <a:latin typeface="Open Sans Bold"/>
                <a:ea typeface="Open Sans Bold"/>
                <a:cs typeface="Open Sans Bold"/>
                <a:sym typeface="Open Sans Bold"/>
              </a:rPr>
              <a:t>Inspection Method</a:t>
            </a:r>
          </a:p>
        </p:txBody>
      </p:sp>
      <p:sp>
        <p:nvSpPr>
          <p:cNvPr name="TextBox 38" id="38"/>
          <p:cNvSpPr txBox="true"/>
          <p:nvPr/>
        </p:nvSpPr>
        <p:spPr>
          <a:xfrm rot="0">
            <a:off x="5325666" y="8204749"/>
            <a:ext cx="12627026" cy="473126"/>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Technique used to detect the defect (visual, automated, etc.)</a:t>
            </a:r>
          </a:p>
        </p:txBody>
      </p:sp>
      <p:grpSp>
        <p:nvGrpSpPr>
          <p:cNvPr name="Group 39" id="39"/>
          <p:cNvGrpSpPr/>
          <p:nvPr/>
        </p:nvGrpSpPr>
        <p:grpSpPr>
          <a:xfrm rot="0">
            <a:off x="1001763" y="8836228"/>
            <a:ext cx="16284473" cy="713632"/>
            <a:chOff x="0" y="0"/>
            <a:chExt cx="21712631" cy="951509"/>
          </a:xfrm>
        </p:grpSpPr>
        <p:sp>
          <p:nvSpPr>
            <p:cNvPr name="Freeform 40" id="40"/>
            <p:cNvSpPr/>
            <p:nvPr/>
          </p:nvSpPr>
          <p:spPr>
            <a:xfrm flipH="false" flipV="false" rot="0">
              <a:off x="0" y="0"/>
              <a:ext cx="21712682" cy="951484"/>
            </a:xfrm>
            <a:custGeom>
              <a:avLst/>
              <a:gdLst/>
              <a:ahLst/>
              <a:cxnLst/>
              <a:rect r="r" b="b" t="t" l="l"/>
              <a:pathLst>
                <a:path h="951484" w="21712682">
                  <a:moveTo>
                    <a:pt x="0" y="0"/>
                  </a:moveTo>
                  <a:lnTo>
                    <a:pt x="21712682" y="0"/>
                  </a:lnTo>
                  <a:lnTo>
                    <a:pt x="21712682" y="951484"/>
                  </a:lnTo>
                  <a:lnTo>
                    <a:pt x="0" y="951484"/>
                  </a:lnTo>
                  <a:close/>
                </a:path>
              </a:pathLst>
            </a:custGeom>
            <a:solidFill>
              <a:srgbClr val="000000">
                <a:alpha val="0"/>
              </a:srgbClr>
            </a:solidFill>
          </p:spPr>
        </p:sp>
      </p:grpSp>
      <p:sp>
        <p:nvSpPr>
          <p:cNvPr name="TextBox 41" id="41"/>
          <p:cNvSpPr txBox="true"/>
          <p:nvPr/>
        </p:nvSpPr>
        <p:spPr>
          <a:xfrm rot="0">
            <a:off x="1249861" y="8918372"/>
            <a:ext cx="4484789" cy="473126"/>
          </a:xfrm>
          <a:prstGeom prst="rect">
            <a:avLst/>
          </a:prstGeom>
        </p:spPr>
        <p:txBody>
          <a:bodyPr anchor="t" rtlCol="false" tIns="0" lIns="0" bIns="0" rIns="0">
            <a:spAutoFit/>
          </a:bodyPr>
          <a:lstStyle/>
          <a:p>
            <a:pPr algn="l">
              <a:lnSpc>
                <a:spcPts val="3032"/>
              </a:lnSpc>
            </a:pPr>
            <a:r>
              <a:rPr lang="en-US" sz="1900" b="true">
                <a:solidFill>
                  <a:srgbClr val="49495A"/>
                </a:solidFill>
                <a:latin typeface="Open Sans Bold"/>
                <a:ea typeface="Open Sans Bold"/>
                <a:cs typeface="Open Sans Bold"/>
                <a:sym typeface="Open Sans Bold"/>
              </a:rPr>
              <a:t>Repair Cost</a:t>
            </a:r>
          </a:p>
        </p:txBody>
      </p:sp>
      <p:sp>
        <p:nvSpPr>
          <p:cNvPr name="TextBox 42" id="42"/>
          <p:cNvSpPr txBox="true"/>
          <p:nvPr/>
        </p:nvSpPr>
        <p:spPr>
          <a:xfrm rot="0">
            <a:off x="5325666" y="8918372"/>
            <a:ext cx="12627026" cy="473126"/>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Monetary cost to remediate the defect, used for financial impact analysis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1654673" y="527895"/>
            <a:ext cx="3288659" cy="306143"/>
          </a:xfrm>
          <a:prstGeom prst="rect">
            <a:avLst/>
          </a:prstGeom>
        </p:spPr>
        <p:txBody>
          <a:bodyPr anchor="t" rtlCol="false" tIns="0" lIns="0" bIns="0" rIns="0">
            <a:spAutoFit/>
          </a:bodyPr>
          <a:lstStyle/>
          <a:p>
            <a:pPr algn="l">
              <a:lnSpc>
                <a:spcPts val="2246"/>
              </a:lnSpc>
            </a:pPr>
            <a:r>
              <a:rPr lang="en-US" sz="1800">
                <a:solidFill>
                  <a:srgbClr val="403CCF"/>
                </a:solidFill>
                <a:latin typeface="Libre Baskerville"/>
                <a:ea typeface="Libre Baskerville"/>
                <a:cs typeface="Libre Baskerville"/>
                <a:sym typeface="Libre Baskerville"/>
              </a:rPr>
              <a:t>Defect Distribution</a:t>
            </a:r>
          </a:p>
        </p:txBody>
      </p:sp>
      <p:sp>
        <p:nvSpPr>
          <p:cNvPr name="TextBox 7" id="7"/>
          <p:cNvSpPr txBox="true"/>
          <p:nvPr/>
        </p:nvSpPr>
        <p:spPr>
          <a:xfrm rot="0">
            <a:off x="1654673" y="863498"/>
            <a:ext cx="9446419" cy="622097"/>
          </a:xfrm>
          <a:prstGeom prst="rect">
            <a:avLst/>
          </a:prstGeom>
        </p:spPr>
        <p:txBody>
          <a:bodyPr anchor="t" rtlCol="false" tIns="0" lIns="0" bIns="0" rIns="0">
            <a:spAutoFit/>
          </a:bodyPr>
          <a:lstStyle/>
          <a:p>
            <a:pPr algn="l">
              <a:lnSpc>
                <a:spcPts val="4617"/>
              </a:lnSpc>
            </a:pPr>
            <a:r>
              <a:rPr lang="en-US" sz="3700">
                <a:solidFill>
                  <a:srgbClr val="403CCF"/>
                </a:solidFill>
                <a:latin typeface="Libre Baskerville"/>
                <a:ea typeface="Libre Baskerville"/>
                <a:cs typeface="Libre Baskerville"/>
                <a:sym typeface="Libre Baskerville"/>
              </a:rPr>
              <a:t>Three Dominant Defect Categories</a:t>
            </a:r>
          </a:p>
        </p:txBody>
      </p:sp>
      <p:sp>
        <p:nvSpPr>
          <p:cNvPr name="TextBox 8" id="8"/>
          <p:cNvSpPr txBox="true"/>
          <p:nvPr/>
        </p:nvSpPr>
        <p:spPr>
          <a:xfrm rot="0">
            <a:off x="1654673" y="1805883"/>
            <a:ext cx="8029575" cy="2304898"/>
          </a:xfrm>
          <a:prstGeom prst="rect">
            <a:avLst/>
          </a:prstGeom>
        </p:spPr>
        <p:txBody>
          <a:bodyPr anchor="t" rtlCol="false" tIns="0" lIns="0" bIns="0" rIns="0">
            <a:spAutoFit/>
          </a:bodyPr>
          <a:lstStyle/>
          <a:p>
            <a:pPr algn="l">
              <a:lnSpc>
                <a:spcPts val="1982"/>
              </a:lnSpc>
            </a:pPr>
            <a:r>
              <a:rPr lang="en-US" sz="1399">
                <a:solidFill>
                  <a:srgbClr val="49495A"/>
                </a:solidFill>
                <a:latin typeface="Open Sans"/>
                <a:ea typeface="Open Sans"/>
                <a:cs typeface="Open Sans"/>
                <a:sym typeface="Open Sans"/>
              </a:rPr>
              <a:t>Across the dataset, defects cluster into three primary categories. </a:t>
            </a:r>
            <a:r>
              <a:rPr lang="en-US" sz="1399" b="true">
                <a:solidFill>
                  <a:srgbClr val="49495A"/>
                </a:solidFill>
                <a:latin typeface="Open Sans Bold"/>
                <a:ea typeface="Open Sans Bold"/>
                <a:cs typeface="Open Sans Bold"/>
                <a:sym typeface="Open Sans Bold"/>
              </a:rPr>
              <a:t>Structural defects</a:t>
            </a:r>
            <a:r>
              <a:rPr lang="en-US" sz="1399">
                <a:solidFill>
                  <a:srgbClr val="49495A"/>
                </a:solidFill>
                <a:latin typeface="Open Sans"/>
                <a:ea typeface="Open Sans"/>
                <a:cs typeface="Open Sans"/>
                <a:sym typeface="Open Sans"/>
              </a:rPr>
              <a:t> involve integrity failures in the product frame or chassis. </a:t>
            </a:r>
            <a:r>
              <a:rPr lang="en-US" sz="1399" b="true">
                <a:solidFill>
                  <a:srgbClr val="49495A"/>
                </a:solidFill>
                <a:latin typeface="Open Sans Bold"/>
                <a:ea typeface="Open Sans Bold"/>
                <a:cs typeface="Open Sans Bold"/>
                <a:sym typeface="Open Sans Bold"/>
              </a:rPr>
              <a:t>Functional defects</a:t>
            </a:r>
            <a:r>
              <a:rPr lang="en-US" sz="1399">
                <a:solidFill>
                  <a:srgbClr val="49495A"/>
                </a:solidFill>
                <a:latin typeface="Open Sans"/>
                <a:ea typeface="Open Sans"/>
                <a:cs typeface="Open Sans"/>
                <a:sym typeface="Open Sans"/>
              </a:rPr>
              <a:t> affect operational performance — components that don't work as specified. </a:t>
            </a:r>
            <a:r>
              <a:rPr lang="en-US" sz="1399" b="true">
                <a:solidFill>
                  <a:srgbClr val="49495A"/>
                </a:solidFill>
                <a:latin typeface="Open Sans Bold"/>
                <a:ea typeface="Open Sans Bold"/>
                <a:cs typeface="Open Sans Bold"/>
                <a:sym typeface="Open Sans Bold"/>
              </a:rPr>
              <a:t>Cosmetic defects</a:t>
            </a:r>
            <a:r>
              <a:rPr lang="en-US" sz="1399">
                <a:solidFill>
                  <a:srgbClr val="49495A"/>
                </a:solidFill>
                <a:latin typeface="Open Sans"/>
                <a:ea typeface="Open Sans"/>
                <a:cs typeface="Open Sans"/>
                <a:sym typeface="Open Sans"/>
              </a:rPr>
              <a:t> are surface-level issues that don't impair function but impact customer perception and return rates.</a:t>
            </a:r>
          </a:p>
          <a:p>
            <a:pPr algn="l">
              <a:lnSpc>
                <a:spcPts val="1982"/>
              </a:lnSpc>
            </a:pPr>
            <a:r>
              <a:rPr lang="en-US" sz="1399">
                <a:solidFill>
                  <a:srgbClr val="49495A"/>
                </a:solidFill>
                <a:latin typeface="Open Sans"/>
                <a:ea typeface="Open Sans"/>
                <a:cs typeface="Open Sans"/>
                <a:sym typeface="Open Sans"/>
              </a:rPr>
              <a:t>Understanding the relative frequency of each type is the first step in allocating inspection resources and setting quality thresholds. Structural defects, while often less frequent, tend to carry the highest repair costs and severity ratings.</a:t>
            </a:r>
          </a:p>
        </p:txBody>
      </p:sp>
      <p:grpSp>
        <p:nvGrpSpPr>
          <p:cNvPr name="Group 9" id="9"/>
          <p:cNvGrpSpPr/>
          <p:nvPr/>
        </p:nvGrpSpPr>
        <p:grpSpPr>
          <a:xfrm rot="0">
            <a:off x="1654673" y="4274344"/>
            <a:ext cx="8029575" cy="955034"/>
            <a:chOff x="0" y="0"/>
            <a:chExt cx="10706100" cy="1273378"/>
          </a:xfrm>
        </p:grpSpPr>
        <p:sp>
          <p:nvSpPr>
            <p:cNvPr name="Freeform 10" id="10"/>
            <p:cNvSpPr/>
            <p:nvPr/>
          </p:nvSpPr>
          <p:spPr>
            <a:xfrm flipH="false" flipV="false" rot="0">
              <a:off x="0" y="0"/>
              <a:ext cx="10706100" cy="1273303"/>
            </a:xfrm>
            <a:custGeom>
              <a:avLst/>
              <a:gdLst/>
              <a:ahLst/>
              <a:cxnLst/>
              <a:rect r="r" b="b" t="t" l="l"/>
              <a:pathLst>
                <a:path h="1273303" w="10706100">
                  <a:moveTo>
                    <a:pt x="0" y="37973"/>
                  </a:moveTo>
                  <a:cubicBezTo>
                    <a:pt x="0" y="17018"/>
                    <a:pt x="17018" y="0"/>
                    <a:pt x="37973" y="0"/>
                  </a:cubicBezTo>
                  <a:lnTo>
                    <a:pt x="10668127" y="0"/>
                  </a:lnTo>
                  <a:cubicBezTo>
                    <a:pt x="10689082" y="0"/>
                    <a:pt x="10706100" y="17018"/>
                    <a:pt x="10706100" y="37973"/>
                  </a:cubicBezTo>
                  <a:lnTo>
                    <a:pt x="10706100" y="1235329"/>
                  </a:lnTo>
                  <a:cubicBezTo>
                    <a:pt x="10706100" y="1256284"/>
                    <a:pt x="10689082" y="1273302"/>
                    <a:pt x="10668127" y="1273302"/>
                  </a:cubicBezTo>
                  <a:lnTo>
                    <a:pt x="37973" y="1273302"/>
                  </a:lnTo>
                  <a:cubicBezTo>
                    <a:pt x="17018" y="1273429"/>
                    <a:pt x="0" y="1256411"/>
                    <a:pt x="0" y="1235329"/>
                  </a:cubicBezTo>
                  <a:close/>
                </a:path>
              </a:pathLst>
            </a:custGeom>
            <a:solidFill>
              <a:srgbClr val="B6D6FC"/>
            </a:solidFill>
          </p:spPr>
        </p:sp>
      </p:grpSp>
      <p:grpSp>
        <p:nvGrpSpPr>
          <p:cNvPr name="Group 11" id="11"/>
          <p:cNvGrpSpPr/>
          <p:nvPr/>
        </p:nvGrpSpPr>
        <p:grpSpPr>
          <a:xfrm rot="0">
            <a:off x="1844573" y="4545511"/>
            <a:ext cx="237382" cy="189900"/>
            <a:chOff x="0" y="0"/>
            <a:chExt cx="316509" cy="253200"/>
          </a:xfrm>
        </p:grpSpPr>
        <p:sp>
          <p:nvSpPr>
            <p:cNvPr name="Freeform 12" id="12" descr="preencoded.png"/>
            <p:cNvSpPr/>
            <p:nvPr/>
          </p:nvSpPr>
          <p:spPr>
            <a:xfrm flipH="false" flipV="false" rot="0">
              <a:off x="0" y="0"/>
              <a:ext cx="316484" cy="253238"/>
            </a:xfrm>
            <a:custGeom>
              <a:avLst/>
              <a:gdLst/>
              <a:ahLst/>
              <a:cxnLst/>
              <a:rect r="r" b="b" t="t" l="l"/>
              <a:pathLst>
                <a:path h="253238" w="316484">
                  <a:moveTo>
                    <a:pt x="0" y="0"/>
                  </a:moveTo>
                  <a:lnTo>
                    <a:pt x="316484" y="0"/>
                  </a:lnTo>
                  <a:lnTo>
                    <a:pt x="316484" y="253238"/>
                  </a:lnTo>
                  <a:lnTo>
                    <a:pt x="0" y="253238"/>
                  </a:lnTo>
                  <a:lnTo>
                    <a:pt x="0" y="0"/>
                  </a:lnTo>
                  <a:close/>
                </a:path>
              </a:pathLst>
            </a:custGeom>
            <a:blipFill>
              <a:blip r:embed="rId2"/>
              <a:stretch>
                <a:fillRect l="0" t="0" r="-8" b="15"/>
              </a:stretch>
            </a:blipFill>
          </p:spPr>
        </p:sp>
      </p:grpSp>
      <p:sp>
        <p:nvSpPr>
          <p:cNvPr name="TextBox 13" id="13"/>
          <p:cNvSpPr txBox="true"/>
          <p:nvPr/>
        </p:nvSpPr>
        <p:spPr>
          <a:xfrm rot="0">
            <a:off x="2271865" y="4438650"/>
            <a:ext cx="7222484" cy="564947"/>
          </a:xfrm>
          <a:prstGeom prst="rect">
            <a:avLst/>
          </a:prstGeom>
        </p:spPr>
        <p:txBody>
          <a:bodyPr anchor="t" rtlCol="false" tIns="0" lIns="0" bIns="0" rIns="0">
            <a:spAutoFit/>
          </a:bodyPr>
          <a:lstStyle/>
          <a:p>
            <a:pPr algn="l">
              <a:lnSpc>
                <a:spcPts val="1982"/>
              </a:lnSpc>
            </a:pPr>
            <a:r>
              <a:rPr lang="en-US" sz="1399">
                <a:solidFill>
                  <a:srgbClr val="000000"/>
                </a:solidFill>
                <a:latin typeface="Open Sans"/>
                <a:ea typeface="Open Sans"/>
                <a:cs typeface="Open Sans"/>
                <a:sym typeface="Open Sans"/>
              </a:rPr>
              <a:t>Defect type distribution is a key input for root cause analysis and process control prioritization.</a:t>
            </a:r>
          </a:p>
        </p:txBody>
      </p:sp>
      <p:grpSp>
        <p:nvGrpSpPr>
          <p:cNvPr name="Group 14" id="14"/>
          <p:cNvGrpSpPr/>
          <p:nvPr/>
        </p:nvGrpSpPr>
        <p:grpSpPr>
          <a:xfrm rot="0">
            <a:off x="10157222" y="1867195"/>
            <a:ext cx="6485334" cy="6485334"/>
            <a:chOff x="0" y="0"/>
            <a:chExt cx="8647112" cy="8647112"/>
          </a:xfrm>
        </p:grpSpPr>
        <p:sp>
          <p:nvSpPr>
            <p:cNvPr name="Freeform 15" id="15" descr="preencoded.png"/>
            <p:cNvSpPr/>
            <p:nvPr/>
          </p:nvSpPr>
          <p:spPr>
            <a:xfrm flipH="false" flipV="false" rot="0">
              <a:off x="0" y="0"/>
              <a:ext cx="8647049" cy="8647049"/>
            </a:xfrm>
            <a:custGeom>
              <a:avLst/>
              <a:gdLst/>
              <a:ahLst/>
              <a:cxnLst/>
              <a:rect r="r" b="b" t="t" l="l"/>
              <a:pathLst>
                <a:path h="8647049" w="8647049">
                  <a:moveTo>
                    <a:pt x="0" y="0"/>
                  </a:moveTo>
                  <a:lnTo>
                    <a:pt x="8647049" y="0"/>
                  </a:lnTo>
                  <a:lnTo>
                    <a:pt x="8647049" y="8647049"/>
                  </a:lnTo>
                  <a:lnTo>
                    <a:pt x="0" y="8647049"/>
                  </a:lnTo>
                  <a:lnTo>
                    <a:pt x="0" y="0"/>
                  </a:lnTo>
                  <a:close/>
                </a:path>
              </a:pathLst>
            </a:custGeom>
            <a:blipFill>
              <a:blip r:embed="rId3"/>
              <a:stretch>
                <a:fillRect l="0" t="0" r="0" b="0"/>
              </a:stretch>
            </a:blipFill>
          </p:spPr>
        </p:sp>
      </p:grpSp>
      <p:sp>
        <p:nvSpPr>
          <p:cNvPr name="Freeform 16" id="16" descr="preencoded.png"/>
          <p:cNvSpPr/>
          <p:nvPr/>
        </p:nvSpPr>
        <p:spPr>
          <a:xfrm flipH="false" flipV="false" rot="0">
            <a:off x="1635623" y="8679656"/>
            <a:ext cx="4914900" cy="1069924"/>
          </a:xfrm>
          <a:custGeom>
            <a:avLst/>
            <a:gdLst/>
            <a:ahLst/>
            <a:cxnLst/>
            <a:rect r="r" b="b" t="t" l="l"/>
            <a:pathLst>
              <a:path h="1069924" w="4914900">
                <a:moveTo>
                  <a:pt x="0" y="0"/>
                </a:moveTo>
                <a:lnTo>
                  <a:pt x="4914900" y="0"/>
                </a:lnTo>
                <a:lnTo>
                  <a:pt x="4914900" y="1069924"/>
                </a:lnTo>
                <a:lnTo>
                  <a:pt x="0" y="1069924"/>
                </a:lnTo>
                <a:lnTo>
                  <a:pt x="0" y="0"/>
                </a:lnTo>
                <a:close/>
              </a:path>
            </a:pathLst>
          </a:custGeom>
          <a:blipFill>
            <a:blip r:embed="rId4">
              <a:extLst>
                <a:ext uri="{96DAC541-7B7A-43D3-8B79-37D633B846F1}">
                  <asvg:svgBlip xmlns:asvg="http://schemas.microsoft.com/office/drawing/2016/SVG/main" r:embed="rId5"/>
                </a:ext>
              </a:extLst>
            </a:blip>
            <a:stretch>
              <a:fillRect l="0" t="-299" r="0" b="-299"/>
            </a:stretch>
          </a:blipFill>
        </p:spPr>
      </p:sp>
      <p:sp>
        <p:nvSpPr>
          <p:cNvPr name="TextBox 17" id="17"/>
          <p:cNvSpPr txBox="true"/>
          <p:nvPr/>
        </p:nvSpPr>
        <p:spPr>
          <a:xfrm rot="0">
            <a:off x="1920773" y="8879081"/>
            <a:ext cx="2374259" cy="306143"/>
          </a:xfrm>
          <a:prstGeom prst="rect">
            <a:avLst/>
          </a:prstGeom>
        </p:spPr>
        <p:txBody>
          <a:bodyPr anchor="t" rtlCol="false" tIns="0" lIns="0" bIns="0" rIns="0">
            <a:spAutoFit/>
          </a:bodyPr>
          <a:lstStyle/>
          <a:p>
            <a:pPr algn="l">
              <a:lnSpc>
                <a:spcPts val="2246"/>
              </a:lnSpc>
            </a:pPr>
            <a:r>
              <a:rPr lang="en-US" sz="1800">
                <a:solidFill>
                  <a:srgbClr val="49495A"/>
                </a:solidFill>
                <a:latin typeface="Libre Baskerville"/>
                <a:ea typeface="Libre Baskerville"/>
                <a:cs typeface="Libre Baskerville"/>
                <a:sym typeface="Libre Baskerville"/>
              </a:rPr>
              <a:t>Structural</a:t>
            </a:r>
          </a:p>
        </p:txBody>
      </p:sp>
      <p:sp>
        <p:nvSpPr>
          <p:cNvPr name="TextBox 18" id="18"/>
          <p:cNvSpPr txBox="true"/>
          <p:nvPr/>
        </p:nvSpPr>
        <p:spPr>
          <a:xfrm rot="0">
            <a:off x="1920773" y="9243860"/>
            <a:ext cx="4420791" cy="296761"/>
          </a:xfrm>
          <a:prstGeom prst="rect">
            <a:avLst/>
          </a:prstGeom>
        </p:spPr>
        <p:txBody>
          <a:bodyPr anchor="t" rtlCol="false" tIns="0" lIns="0" bIns="0" rIns="0">
            <a:spAutoFit/>
          </a:bodyPr>
          <a:lstStyle/>
          <a:p>
            <a:pPr algn="l">
              <a:lnSpc>
                <a:spcPts val="1982"/>
              </a:lnSpc>
            </a:pPr>
            <a:r>
              <a:rPr lang="en-US" sz="1399">
                <a:solidFill>
                  <a:srgbClr val="49495A"/>
                </a:solidFill>
                <a:latin typeface="Open Sans"/>
                <a:ea typeface="Open Sans"/>
                <a:cs typeface="Open Sans"/>
                <a:sym typeface="Open Sans"/>
              </a:rPr>
              <a:t>Frame, chassis, and material integrity failures</a:t>
            </a:r>
          </a:p>
        </p:txBody>
      </p:sp>
      <p:sp>
        <p:nvSpPr>
          <p:cNvPr name="Freeform 19" id="19" descr="preencoded.png"/>
          <p:cNvSpPr/>
          <p:nvPr/>
        </p:nvSpPr>
        <p:spPr>
          <a:xfrm flipH="false" flipV="false" rot="0">
            <a:off x="6676873" y="8679656"/>
            <a:ext cx="4914900" cy="1069924"/>
          </a:xfrm>
          <a:custGeom>
            <a:avLst/>
            <a:gdLst/>
            <a:ahLst/>
            <a:cxnLst/>
            <a:rect r="r" b="b" t="t" l="l"/>
            <a:pathLst>
              <a:path h="1069924" w="4914900">
                <a:moveTo>
                  <a:pt x="0" y="0"/>
                </a:moveTo>
                <a:lnTo>
                  <a:pt x="4914900" y="0"/>
                </a:lnTo>
                <a:lnTo>
                  <a:pt x="4914900" y="1069924"/>
                </a:lnTo>
                <a:lnTo>
                  <a:pt x="0" y="1069924"/>
                </a:lnTo>
                <a:lnTo>
                  <a:pt x="0" y="0"/>
                </a:lnTo>
                <a:close/>
              </a:path>
            </a:pathLst>
          </a:custGeom>
          <a:blipFill>
            <a:blip r:embed="rId4">
              <a:extLst>
                <a:ext uri="{96DAC541-7B7A-43D3-8B79-37D633B846F1}">
                  <asvg:svgBlip xmlns:asvg="http://schemas.microsoft.com/office/drawing/2016/SVG/main" r:embed="rId5"/>
                </a:ext>
              </a:extLst>
            </a:blip>
            <a:stretch>
              <a:fillRect l="0" t="-299" r="0" b="-299"/>
            </a:stretch>
          </a:blipFill>
        </p:spPr>
      </p:sp>
      <p:sp>
        <p:nvSpPr>
          <p:cNvPr name="TextBox 20" id="20"/>
          <p:cNvSpPr txBox="true"/>
          <p:nvPr/>
        </p:nvSpPr>
        <p:spPr>
          <a:xfrm rot="0">
            <a:off x="6962032" y="8879081"/>
            <a:ext cx="2374259" cy="306143"/>
          </a:xfrm>
          <a:prstGeom prst="rect">
            <a:avLst/>
          </a:prstGeom>
        </p:spPr>
        <p:txBody>
          <a:bodyPr anchor="t" rtlCol="false" tIns="0" lIns="0" bIns="0" rIns="0">
            <a:spAutoFit/>
          </a:bodyPr>
          <a:lstStyle/>
          <a:p>
            <a:pPr algn="l">
              <a:lnSpc>
                <a:spcPts val="2246"/>
              </a:lnSpc>
            </a:pPr>
            <a:r>
              <a:rPr lang="en-US" sz="1800">
                <a:solidFill>
                  <a:srgbClr val="49495A"/>
                </a:solidFill>
                <a:latin typeface="Libre Baskerville"/>
                <a:ea typeface="Libre Baskerville"/>
                <a:cs typeface="Libre Baskerville"/>
                <a:sym typeface="Libre Baskerville"/>
              </a:rPr>
              <a:t>Functional</a:t>
            </a:r>
          </a:p>
        </p:txBody>
      </p:sp>
      <p:sp>
        <p:nvSpPr>
          <p:cNvPr name="TextBox 21" id="21"/>
          <p:cNvSpPr txBox="true"/>
          <p:nvPr/>
        </p:nvSpPr>
        <p:spPr>
          <a:xfrm rot="0">
            <a:off x="6962032" y="9243860"/>
            <a:ext cx="4420791" cy="296761"/>
          </a:xfrm>
          <a:prstGeom prst="rect">
            <a:avLst/>
          </a:prstGeom>
        </p:spPr>
        <p:txBody>
          <a:bodyPr anchor="t" rtlCol="false" tIns="0" lIns="0" bIns="0" rIns="0">
            <a:spAutoFit/>
          </a:bodyPr>
          <a:lstStyle/>
          <a:p>
            <a:pPr algn="l">
              <a:lnSpc>
                <a:spcPts val="1982"/>
              </a:lnSpc>
            </a:pPr>
            <a:r>
              <a:rPr lang="en-US" sz="1399">
                <a:solidFill>
                  <a:srgbClr val="49495A"/>
                </a:solidFill>
                <a:latin typeface="Open Sans"/>
                <a:ea typeface="Open Sans"/>
                <a:cs typeface="Open Sans"/>
                <a:sym typeface="Open Sans"/>
              </a:rPr>
              <a:t>Operational and performance-related failures</a:t>
            </a:r>
          </a:p>
        </p:txBody>
      </p:sp>
      <p:sp>
        <p:nvSpPr>
          <p:cNvPr name="Freeform 22" id="22" descr="preencoded.png"/>
          <p:cNvSpPr/>
          <p:nvPr/>
        </p:nvSpPr>
        <p:spPr>
          <a:xfrm flipH="false" flipV="false" rot="0">
            <a:off x="11718131" y="8679656"/>
            <a:ext cx="4915052" cy="1069924"/>
          </a:xfrm>
          <a:custGeom>
            <a:avLst/>
            <a:gdLst/>
            <a:ahLst/>
            <a:cxnLst/>
            <a:rect r="r" b="b" t="t" l="l"/>
            <a:pathLst>
              <a:path h="1069924" w="4915052">
                <a:moveTo>
                  <a:pt x="0" y="0"/>
                </a:moveTo>
                <a:lnTo>
                  <a:pt x="4915053" y="0"/>
                </a:lnTo>
                <a:lnTo>
                  <a:pt x="4915053" y="1069924"/>
                </a:lnTo>
                <a:lnTo>
                  <a:pt x="0" y="1069924"/>
                </a:lnTo>
                <a:lnTo>
                  <a:pt x="0" y="0"/>
                </a:lnTo>
                <a:close/>
              </a:path>
            </a:pathLst>
          </a:custGeom>
          <a:blipFill>
            <a:blip r:embed="rId6">
              <a:extLst>
                <a:ext uri="{96DAC541-7B7A-43D3-8B79-37D633B846F1}">
                  <asvg:svgBlip xmlns:asvg="http://schemas.microsoft.com/office/drawing/2016/SVG/main" r:embed="rId7"/>
                </a:ext>
              </a:extLst>
            </a:blip>
            <a:stretch>
              <a:fillRect l="0" t="-202" r="0" b="-203"/>
            </a:stretch>
          </a:blipFill>
        </p:spPr>
      </p:sp>
      <p:sp>
        <p:nvSpPr>
          <p:cNvPr name="TextBox 23" id="23"/>
          <p:cNvSpPr txBox="true"/>
          <p:nvPr/>
        </p:nvSpPr>
        <p:spPr>
          <a:xfrm rot="0">
            <a:off x="12003291" y="8879081"/>
            <a:ext cx="2374259" cy="306143"/>
          </a:xfrm>
          <a:prstGeom prst="rect">
            <a:avLst/>
          </a:prstGeom>
        </p:spPr>
        <p:txBody>
          <a:bodyPr anchor="t" rtlCol="false" tIns="0" lIns="0" bIns="0" rIns="0">
            <a:spAutoFit/>
          </a:bodyPr>
          <a:lstStyle/>
          <a:p>
            <a:pPr algn="l">
              <a:lnSpc>
                <a:spcPts val="2246"/>
              </a:lnSpc>
            </a:pPr>
            <a:r>
              <a:rPr lang="en-US" sz="1800">
                <a:solidFill>
                  <a:srgbClr val="49495A"/>
                </a:solidFill>
                <a:latin typeface="Libre Baskerville"/>
                <a:ea typeface="Libre Baskerville"/>
                <a:cs typeface="Libre Baskerville"/>
                <a:sym typeface="Libre Baskerville"/>
              </a:rPr>
              <a:t>Cosmetic</a:t>
            </a:r>
          </a:p>
        </p:txBody>
      </p:sp>
      <p:sp>
        <p:nvSpPr>
          <p:cNvPr name="TextBox 24" id="24"/>
          <p:cNvSpPr txBox="true"/>
          <p:nvPr/>
        </p:nvSpPr>
        <p:spPr>
          <a:xfrm rot="0">
            <a:off x="12003291" y="9243860"/>
            <a:ext cx="4420943" cy="296761"/>
          </a:xfrm>
          <a:prstGeom prst="rect">
            <a:avLst/>
          </a:prstGeom>
        </p:spPr>
        <p:txBody>
          <a:bodyPr anchor="t" rtlCol="false" tIns="0" lIns="0" bIns="0" rIns="0">
            <a:spAutoFit/>
          </a:bodyPr>
          <a:lstStyle/>
          <a:p>
            <a:pPr algn="l">
              <a:lnSpc>
                <a:spcPts val="1982"/>
              </a:lnSpc>
            </a:pPr>
            <a:r>
              <a:rPr lang="en-US" sz="1399">
                <a:solidFill>
                  <a:srgbClr val="49495A"/>
                </a:solidFill>
                <a:latin typeface="Open Sans"/>
                <a:ea typeface="Open Sans"/>
                <a:cs typeface="Open Sans"/>
                <a:sym typeface="Open Sans"/>
              </a:rPr>
              <a:t>Surface, finish, and appearance issues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1157440"/>
            <a:ext cx="4015530" cy="387696"/>
          </a:xfrm>
          <a:prstGeom prst="rect">
            <a:avLst/>
          </a:prstGeom>
        </p:spPr>
        <p:txBody>
          <a:bodyPr anchor="t" rtlCol="false" tIns="0" lIns="0" bIns="0" rIns="0">
            <a:spAutoFit/>
          </a:bodyPr>
          <a:lstStyle/>
          <a:p>
            <a:pPr algn="l">
              <a:lnSpc>
                <a:spcPts val="2995"/>
              </a:lnSpc>
            </a:pPr>
            <a:r>
              <a:rPr lang="en-US" sz="2400">
                <a:solidFill>
                  <a:srgbClr val="403CCF"/>
                </a:solidFill>
                <a:latin typeface="Libre Baskerville"/>
                <a:ea typeface="Libre Baskerville"/>
                <a:cs typeface="Libre Baskerville"/>
                <a:sym typeface="Libre Baskerville"/>
              </a:rPr>
              <a:t>Cost Analysis</a:t>
            </a:r>
          </a:p>
        </p:txBody>
      </p:sp>
      <p:sp>
        <p:nvSpPr>
          <p:cNvPr name="TextBox 7" id="7"/>
          <p:cNvSpPr txBox="true"/>
          <p:nvPr/>
        </p:nvSpPr>
        <p:spPr>
          <a:xfrm rot="0">
            <a:off x="992238" y="1625203"/>
            <a:ext cx="13237816" cy="794147"/>
          </a:xfrm>
          <a:prstGeom prst="rect">
            <a:avLst/>
          </a:prstGeom>
        </p:spPr>
        <p:txBody>
          <a:bodyPr anchor="t" rtlCol="false" tIns="0" lIns="0" bIns="0" rIns="0">
            <a:spAutoFit/>
          </a:bodyPr>
          <a:lstStyle/>
          <a:p>
            <a:pPr algn="l">
              <a:lnSpc>
                <a:spcPts val="5990"/>
              </a:lnSpc>
            </a:pPr>
            <a:r>
              <a:rPr lang="en-US" sz="4800">
                <a:solidFill>
                  <a:srgbClr val="403CCF"/>
                </a:solidFill>
                <a:latin typeface="Libre Baskerville"/>
                <a:ea typeface="Libre Baskerville"/>
                <a:cs typeface="Libre Baskerville"/>
                <a:sym typeface="Libre Baskerville"/>
              </a:rPr>
              <a:t>Repair Cost Trends &amp; Financial Impact</a:t>
            </a:r>
          </a:p>
        </p:txBody>
      </p:sp>
      <p:sp>
        <p:nvSpPr>
          <p:cNvPr name="TextBox 8" id="8"/>
          <p:cNvSpPr txBox="true"/>
          <p:nvPr/>
        </p:nvSpPr>
        <p:spPr>
          <a:xfrm rot="0">
            <a:off x="992238" y="2715216"/>
            <a:ext cx="16303523" cy="1266977"/>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Repair cost is one of the most actionable metrics in defect analysis. By examining cost distributions across defect types, severity levels, and time periods, teams can quantify the financial burden of quality failures and build a business case for targeted process improvements. Summary statistics — mean, median, and range — reveal whether a few extreme outliers are skewing costs or if high expenses are systemic.</a:t>
            </a:r>
          </a:p>
        </p:txBody>
      </p:sp>
      <p:sp>
        <p:nvSpPr>
          <p:cNvPr name="TextBox 9" id="9"/>
          <p:cNvSpPr txBox="true"/>
          <p:nvPr/>
        </p:nvSpPr>
        <p:spPr>
          <a:xfrm rot="0">
            <a:off x="992238" y="4518574"/>
            <a:ext cx="7996685" cy="685352"/>
          </a:xfrm>
          <a:prstGeom prst="rect">
            <a:avLst/>
          </a:prstGeom>
        </p:spPr>
        <p:txBody>
          <a:bodyPr anchor="t" rtlCol="false" tIns="0" lIns="0" bIns="0" rIns="0">
            <a:spAutoFit/>
          </a:bodyPr>
          <a:lstStyle/>
          <a:p>
            <a:pPr algn="ctr">
              <a:lnSpc>
                <a:spcPts val="6374"/>
              </a:lnSpc>
            </a:pPr>
            <a:r>
              <a:rPr lang="en-US" sz="6400">
                <a:solidFill>
                  <a:srgbClr val="49495A"/>
                </a:solidFill>
                <a:latin typeface="Libre Baskerville"/>
                <a:ea typeface="Libre Baskerville"/>
                <a:cs typeface="Libre Baskerville"/>
                <a:sym typeface="Libre Baskerville"/>
              </a:rPr>
              <a:t>$2.4K</a:t>
            </a:r>
          </a:p>
        </p:txBody>
      </p:sp>
      <p:sp>
        <p:nvSpPr>
          <p:cNvPr name="TextBox 10" id="10"/>
          <p:cNvSpPr txBox="true"/>
          <p:nvPr/>
        </p:nvSpPr>
        <p:spPr>
          <a:xfrm rot="0">
            <a:off x="3440011" y="5513937"/>
            <a:ext cx="3101130" cy="387696"/>
          </a:xfrm>
          <a:prstGeom prst="rect">
            <a:avLst/>
          </a:prstGeom>
        </p:spPr>
        <p:txBody>
          <a:bodyPr anchor="t" rtlCol="false" tIns="0" lIns="0" bIns="0" rIns="0">
            <a:spAutoFit/>
          </a:bodyPr>
          <a:lstStyle/>
          <a:p>
            <a:pPr algn="ctr">
              <a:lnSpc>
                <a:spcPts val="2995"/>
              </a:lnSpc>
            </a:pPr>
            <a:r>
              <a:rPr lang="en-US" sz="2400">
                <a:solidFill>
                  <a:srgbClr val="49495A"/>
                </a:solidFill>
                <a:latin typeface="Libre Baskerville"/>
                <a:ea typeface="Libre Baskerville"/>
                <a:cs typeface="Libre Baskerville"/>
                <a:sym typeface="Libre Baskerville"/>
              </a:rPr>
              <a:t>Avg. Repair Cost</a:t>
            </a:r>
          </a:p>
        </p:txBody>
      </p:sp>
      <p:sp>
        <p:nvSpPr>
          <p:cNvPr name="TextBox 11" id="11"/>
          <p:cNvSpPr txBox="true"/>
          <p:nvPr/>
        </p:nvSpPr>
        <p:spPr>
          <a:xfrm rot="0">
            <a:off x="992238" y="5974261"/>
            <a:ext cx="7996685" cy="473126"/>
          </a:xfrm>
          <a:prstGeom prst="rect">
            <a:avLst/>
          </a:prstGeom>
        </p:spPr>
        <p:txBody>
          <a:bodyPr anchor="t" rtlCol="false" tIns="0" lIns="0" bIns="0" rIns="0">
            <a:spAutoFit/>
          </a:bodyPr>
          <a:lstStyle/>
          <a:p>
            <a:pPr algn="ctr">
              <a:lnSpc>
                <a:spcPts val="3032"/>
              </a:lnSpc>
            </a:pPr>
            <a:r>
              <a:rPr lang="en-US" sz="1900">
                <a:solidFill>
                  <a:srgbClr val="49495A"/>
                </a:solidFill>
                <a:latin typeface="Open Sans"/>
                <a:ea typeface="Open Sans"/>
                <a:cs typeface="Open Sans"/>
                <a:sym typeface="Open Sans"/>
              </a:rPr>
              <a:t>Mean cost per defect event across all categories</a:t>
            </a:r>
          </a:p>
        </p:txBody>
      </p:sp>
      <p:sp>
        <p:nvSpPr>
          <p:cNvPr name="TextBox 12" id="12"/>
          <p:cNvSpPr txBox="true"/>
          <p:nvPr/>
        </p:nvSpPr>
        <p:spPr>
          <a:xfrm rot="0">
            <a:off x="9298934" y="4518574"/>
            <a:ext cx="7996828" cy="685352"/>
          </a:xfrm>
          <a:prstGeom prst="rect">
            <a:avLst/>
          </a:prstGeom>
        </p:spPr>
        <p:txBody>
          <a:bodyPr anchor="t" rtlCol="false" tIns="0" lIns="0" bIns="0" rIns="0">
            <a:spAutoFit/>
          </a:bodyPr>
          <a:lstStyle/>
          <a:p>
            <a:pPr algn="ctr">
              <a:lnSpc>
                <a:spcPts val="6374"/>
              </a:lnSpc>
            </a:pPr>
            <a:r>
              <a:rPr lang="en-US" sz="6400">
                <a:solidFill>
                  <a:srgbClr val="49495A"/>
                </a:solidFill>
                <a:latin typeface="Libre Baskerville"/>
                <a:ea typeface="Libre Baskerville"/>
                <a:cs typeface="Libre Baskerville"/>
                <a:sym typeface="Libre Baskerville"/>
              </a:rPr>
              <a:t>$890</a:t>
            </a:r>
          </a:p>
        </p:txBody>
      </p:sp>
      <p:sp>
        <p:nvSpPr>
          <p:cNvPr name="TextBox 13" id="13"/>
          <p:cNvSpPr txBox="true"/>
          <p:nvPr/>
        </p:nvSpPr>
        <p:spPr>
          <a:xfrm rot="0">
            <a:off x="11746706" y="5513937"/>
            <a:ext cx="3101130" cy="387696"/>
          </a:xfrm>
          <a:prstGeom prst="rect">
            <a:avLst/>
          </a:prstGeom>
        </p:spPr>
        <p:txBody>
          <a:bodyPr anchor="t" rtlCol="false" tIns="0" lIns="0" bIns="0" rIns="0">
            <a:spAutoFit/>
          </a:bodyPr>
          <a:lstStyle/>
          <a:p>
            <a:pPr algn="ctr">
              <a:lnSpc>
                <a:spcPts val="2995"/>
              </a:lnSpc>
            </a:pPr>
            <a:r>
              <a:rPr lang="en-US" sz="2400">
                <a:solidFill>
                  <a:srgbClr val="49495A"/>
                </a:solidFill>
                <a:latin typeface="Libre Baskerville"/>
                <a:ea typeface="Libre Baskerville"/>
                <a:cs typeface="Libre Baskerville"/>
                <a:sym typeface="Libre Baskerville"/>
              </a:rPr>
              <a:t>Median Cost</a:t>
            </a:r>
          </a:p>
        </p:txBody>
      </p:sp>
      <p:sp>
        <p:nvSpPr>
          <p:cNvPr name="TextBox 14" id="14"/>
          <p:cNvSpPr txBox="true"/>
          <p:nvPr/>
        </p:nvSpPr>
        <p:spPr>
          <a:xfrm rot="0">
            <a:off x="9298934" y="5974261"/>
            <a:ext cx="7996828" cy="473126"/>
          </a:xfrm>
          <a:prstGeom prst="rect">
            <a:avLst/>
          </a:prstGeom>
        </p:spPr>
        <p:txBody>
          <a:bodyPr anchor="t" rtlCol="false" tIns="0" lIns="0" bIns="0" rIns="0">
            <a:spAutoFit/>
          </a:bodyPr>
          <a:lstStyle/>
          <a:p>
            <a:pPr algn="ctr">
              <a:lnSpc>
                <a:spcPts val="3032"/>
              </a:lnSpc>
            </a:pPr>
            <a:r>
              <a:rPr lang="en-US" sz="1900">
                <a:solidFill>
                  <a:srgbClr val="49495A"/>
                </a:solidFill>
                <a:latin typeface="Open Sans"/>
                <a:ea typeface="Open Sans"/>
                <a:cs typeface="Open Sans"/>
                <a:sym typeface="Open Sans"/>
              </a:rPr>
              <a:t>Midpoint value, less sensitive to high-cost outliers</a:t>
            </a:r>
          </a:p>
        </p:txBody>
      </p:sp>
      <p:sp>
        <p:nvSpPr>
          <p:cNvPr name="TextBox 15" id="15"/>
          <p:cNvSpPr txBox="true"/>
          <p:nvPr/>
        </p:nvSpPr>
        <p:spPr>
          <a:xfrm rot="0">
            <a:off x="992238" y="7200748"/>
            <a:ext cx="7996685" cy="685352"/>
          </a:xfrm>
          <a:prstGeom prst="rect">
            <a:avLst/>
          </a:prstGeom>
        </p:spPr>
        <p:txBody>
          <a:bodyPr anchor="t" rtlCol="false" tIns="0" lIns="0" bIns="0" rIns="0">
            <a:spAutoFit/>
          </a:bodyPr>
          <a:lstStyle/>
          <a:p>
            <a:pPr algn="ctr">
              <a:lnSpc>
                <a:spcPts val="6374"/>
              </a:lnSpc>
            </a:pPr>
            <a:r>
              <a:rPr lang="en-US" sz="6400">
                <a:solidFill>
                  <a:srgbClr val="49495A"/>
                </a:solidFill>
                <a:latin typeface="Libre Baskerville"/>
                <a:ea typeface="Libre Baskerville"/>
                <a:cs typeface="Libre Baskerville"/>
                <a:sym typeface="Libre Baskerville"/>
              </a:rPr>
              <a:t>3.2x</a:t>
            </a:r>
          </a:p>
        </p:txBody>
      </p:sp>
      <p:sp>
        <p:nvSpPr>
          <p:cNvPr name="TextBox 16" id="16"/>
          <p:cNvSpPr txBox="true"/>
          <p:nvPr/>
        </p:nvSpPr>
        <p:spPr>
          <a:xfrm rot="0">
            <a:off x="3440011" y="8196110"/>
            <a:ext cx="3101130" cy="387696"/>
          </a:xfrm>
          <a:prstGeom prst="rect">
            <a:avLst/>
          </a:prstGeom>
        </p:spPr>
        <p:txBody>
          <a:bodyPr anchor="t" rtlCol="false" tIns="0" lIns="0" bIns="0" rIns="0">
            <a:spAutoFit/>
          </a:bodyPr>
          <a:lstStyle/>
          <a:p>
            <a:pPr algn="ctr">
              <a:lnSpc>
                <a:spcPts val="2995"/>
              </a:lnSpc>
            </a:pPr>
            <a:r>
              <a:rPr lang="en-US" sz="2400">
                <a:solidFill>
                  <a:srgbClr val="49495A"/>
                </a:solidFill>
                <a:latin typeface="Libre Baskerville"/>
                <a:ea typeface="Libre Baskerville"/>
                <a:cs typeface="Libre Baskerville"/>
                <a:sym typeface="Libre Baskerville"/>
              </a:rPr>
              <a:t>Cost Multiplier</a:t>
            </a:r>
          </a:p>
        </p:txBody>
      </p:sp>
      <p:sp>
        <p:nvSpPr>
          <p:cNvPr name="TextBox 17" id="17"/>
          <p:cNvSpPr txBox="true"/>
          <p:nvPr/>
        </p:nvSpPr>
        <p:spPr>
          <a:xfrm rot="0">
            <a:off x="992238" y="8656444"/>
            <a:ext cx="7996685" cy="473126"/>
          </a:xfrm>
          <a:prstGeom prst="rect">
            <a:avLst/>
          </a:prstGeom>
        </p:spPr>
        <p:txBody>
          <a:bodyPr anchor="t" rtlCol="false" tIns="0" lIns="0" bIns="0" rIns="0">
            <a:spAutoFit/>
          </a:bodyPr>
          <a:lstStyle/>
          <a:p>
            <a:pPr algn="ctr">
              <a:lnSpc>
                <a:spcPts val="3032"/>
              </a:lnSpc>
            </a:pPr>
            <a:r>
              <a:rPr lang="en-US" sz="1900">
                <a:solidFill>
                  <a:srgbClr val="49495A"/>
                </a:solidFill>
                <a:latin typeface="Open Sans"/>
                <a:ea typeface="Open Sans"/>
                <a:cs typeface="Open Sans"/>
                <a:sym typeface="Open Sans"/>
              </a:rPr>
              <a:t>Structural defects cost over 3× more than cosmetic on average</a:t>
            </a:r>
          </a:p>
        </p:txBody>
      </p:sp>
      <p:sp>
        <p:nvSpPr>
          <p:cNvPr name="TextBox 18" id="18"/>
          <p:cNvSpPr txBox="true"/>
          <p:nvPr/>
        </p:nvSpPr>
        <p:spPr>
          <a:xfrm rot="0">
            <a:off x="9298934" y="7200748"/>
            <a:ext cx="7996828" cy="685352"/>
          </a:xfrm>
          <a:prstGeom prst="rect">
            <a:avLst/>
          </a:prstGeom>
        </p:spPr>
        <p:txBody>
          <a:bodyPr anchor="t" rtlCol="false" tIns="0" lIns="0" bIns="0" rIns="0">
            <a:spAutoFit/>
          </a:bodyPr>
          <a:lstStyle/>
          <a:p>
            <a:pPr algn="ctr">
              <a:lnSpc>
                <a:spcPts val="6374"/>
              </a:lnSpc>
            </a:pPr>
            <a:r>
              <a:rPr lang="en-US" sz="6400">
                <a:solidFill>
                  <a:srgbClr val="49495A"/>
                </a:solidFill>
                <a:latin typeface="Libre Baskerville"/>
                <a:ea typeface="Libre Baskerville"/>
                <a:cs typeface="Libre Baskerville"/>
                <a:sym typeface="Libre Baskerville"/>
              </a:rPr>
              <a:t>18%</a:t>
            </a:r>
          </a:p>
        </p:txBody>
      </p:sp>
      <p:sp>
        <p:nvSpPr>
          <p:cNvPr name="TextBox 19" id="19"/>
          <p:cNvSpPr txBox="true"/>
          <p:nvPr/>
        </p:nvSpPr>
        <p:spPr>
          <a:xfrm rot="0">
            <a:off x="11746706" y="8196110"/>
            <a:ext cx="3101130" cy="387696"/>
          </a:xfrm>
          <a:prstGeom prst="rect">
            <a:avLst/>
          </a:prstGeom>
        </p:spPr>
        <p:txBody>
          <a:bodyPr anchor="t" rtlCol="false" tIns="0" lIns="0" bIns="0" rIns="0">
            <a:spAutoFit/>
          </a:bodyPr>
          <a:lstStyle/>
          <a:p>
            <a:pPr algn="ctr">
              <a:lnSpc>
                <a:spcPts val="2995"/>
              </a:lnSpc>
            </a:pPr>
            <a:r>
              <a:rPr lang="en-US" sz="2400">
                <a:solidFill>
                  <a:srgbClr val="49495A"/>
                </a:solidFill>
                <a:latin typeface="Libre Baskerville"/>
                <a:ea typeface="Libre Baskerville"/>
                <a:cs typeface="Libre Baskerville"/>
                <a:sym typeface="Libre Baskerville"/>
              </a:rPr>
              <a:t>High-Cost Share</a:t>
            </a:r>
          </a:p>
        </p:txBody>
      </p:sp>
      <p:sp>
        <p:nvSpPr>
          <p:cNvPr name="TextBox 20" id="20"/>
          <p:cNvSpPr txBox="true"/>
          <p:nvPr/>
        </p:nvSpPr>
        <p:spPr>
          <a:xfrm rot="0">
            <a:off x="9298934" y="8656444"/>
            <a:ext cx="7996828" cy="473126"/>
          </a:xfrm>
          <a:prstGeom prst="rect">
            <a:avLst/>
          </a:prstGeom>
        </p:spPr>
        <p:txBody>
          <a:bodyPr anchor="t" rtlCol="false" tIns="0" lIns="0" bIns="0" rIns="0">
            <a:spAutoFit/>
          </a:bodyPr>
          <a:lstStyle/>
          <a:p>
            <a:pPr algn="ctr">
              <a:lnSpc>
                <a:spcPts val="3032"/>
              </a:lnSpc>
            </a:pPr>
            <a:r>
              <a:rPr lang="en-US" sz="1900">
                <a:solidFill>
                  <a:srgbClr val="49495A"/>
                </a:solidFill>
                <a:latin typeface="Open Sans"/>
                <a:ea typeface="Open Sans"/>
                <a:cs typeface="Open Sans"/>
                <a:sym typeface="Open Sans"/>
              </a:rPr>
              <a:t>Proportion of defects exceeding the 90th percentile cost threshold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1312516"/>
            <a:ext cx="4091435" cy="387696"/>
          </a:xfrm>
          <a:prstGeom prst="rect">
            <a:avLst/>
          </a:prstGeom>
        </p:spPr>
        <p:txBody>
          <a:bodyPr anchor="t" rtlCol="false" tIns="0" lIns="0" bIns="0" rIns="0">
            <a:spAutoFit/>
          </a:bodyPr>
          <a:lstStyle/>
          <a:p>
            <a:pPr algn="l">
              <a:lnSpc>
                <a:spcPts val="2995"/>
              </a:lnSpc>
            </a:pPr>
            <a:r>
              <a:rPr lang="en-US" sz="2400">
                <a:solidFill>
                  <a:srgbClr val="403CCF"/>
                </a:solidFill>
                <a:latin typeface="Libre Baskerville"/>
                <a:ea typeface="Libre Baskerville"/>
                <a:cs typeface="Libre Baskerville"/>
                <a:sym typeface="Libre Baskerville"/>
              </a:rPr>
              <a:t>Severity Breakdown</a:t>
            </a:r>
          </a:p>
        </p:txBody>
      </p:sp>
      <p:sp>
        <p:nvSpPr>
          <p:cNvPr name="TextBox 7" id="7"/>
          <p:cNvSpPr txBox="true"/>
          <p:nvPr/>
        </p:nvSpPr>
        <p:spPr>
          <a:xfrm rot="0">
            <a:off x="992238" y="1780280"/>
            <a:ext cx="11015215" cy="794147"/>
          </a:xfrm>
          <a:prstGeom prst="rect">
            <a:avLst/>
          </a:prstGeom>
        </p:spPr>
        <p:txBody>
          <a:bodyPr anchor="t" rtlCol="false" tIns="0" lIns="0" bIns="0" rIns="0">
            <a:spAutoFit/>
          </a:bodyPr>
          <a:lstStyle/>
          <a:p>
            <a:pPr algn="l">
              <a:lnSpc>
                <a:spcPts val="5990"/>
              </a:lnSpc>
            </a:pPr>
            <a:r>
              <a:rPr lang="en-US" sz="4800">
                <a:solidFill>
                  <a:srgbClr val="403CCF"/>
                </a:solidFill>
                <a:latin typeface="Libre Baskerville"/>
                <a:ea typeface="Libre Baskerville"/>
                <a:cs typeface="Libre Baskerville"/>
                <a:sym typeface="Libre Baskerville"/>
              </a:rPr>
              <a:t>How Critical Are These Defects?</a:t>
            </a:r>
          </a:p>
        </p:txBody>
      </p:sp>
      <p:sp>
        <p:nvSpPr>
          <p:cNvPr name="TextBox 8" id="8"/>
          <p:cNvSpPr txBox="true"/>
          <p:nvPr/>
        </p:nvSpPr>
        <p:spPr>
          <a:xfrm rot="0">
            <a:off x="992238" y="3093539"/>
            <a:ext cx="7849200" cy="3871760"/>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Severity classification transforms raw defect counts into a prioritized action list. The dataset typically uses a four-tier scale — </a:t>
            </a:r>
            <a:r>
              <a:rPr lang="en-US" sz="1900" b="true">
                <a:solidFill>
                  <a:srgbClr val="49495A"/>
                </a:solidFill>
                <a:latin typeface="Open Sans Bold"/>
                <a:ea typeface="Open Sans Bold"/>
                <a:cs typeface="Open Sans Bold"/>
                <a:sym typeface="Open Sans Bold"/>
              </a:rPr>
              <a:t>Low, Medium, High,</a:t>
            </a:r>
            <a:r>
              <a:rPr lang="en-US" sz="1900">
                <a:solidFill>
                  <a:srgbClr val="49495A"/>
                </a:solidFill>
                <a:latin typeface="Open Sans"/>
                <a:ea typeface="Open Sans"/>
                <a:cs typeface="Open Sans"/>
                <a:sym typeface="Open Sans"/>
              </a:rPr>
              <a:t> and </a:t>
            </a:r>
            <a:r>
              <a:rPr lang="en-US" sz="1900" b="true">
                <a:solidFill>
                  <a:srgbClr val="49495A"/>
                </a:solidFill>
                <a:latin typeface="Open Sans Bold"/>
                <a:ea typeface="Open Sans Bold"/>
                <a:cs typeface="Open Sans Bold"/>
                <a:sym typeface="Open Sans Bold"/>
              </a:rPr>
              <a:t>Critical</a:t>
            </a:r>
            <a:r>
              <a:rPr lang="en-US" sz="1900">
                <a:solidFill>
                  <a:srgbClr val="49495A"/>
                </a:solidFill>
                <a:latin typeface="Open Sans"/>
                <a:ea typeface="Open Sans"/>
                <a:cs typeface="Open Sans"/>
                <a:sym typeface="Open Sans"/>
              </a:rPr>
              <a:t> — enabling teams to distinguish between nuisance issues and failures that pose safety or compliance risks.</a:t>
            </a:r>
          </a:p>
          <a:p>
            <a:pPr algn="l">
              <a:lnSpc>
                <a:spcPts val="3032"/>
              </a:lnSpc>
            </a:pPr>
            <a:r>
              <a:rPr lang="en-US" sz="1900">
                <a:solidFill>
                  <a:srgbClr val="49495A"/>
                </a:solidFill>
                <a:latin typeface="Open Sans"/>
                <a:ea typeface="Open Sans"/>
                <a:cs typeface="Open Sans"/>
                <a:sym typeface="Open Sans"/>
              </a:rPr>
              <a:t>Plotting severity against product IDs reveals whether certain products are disproportionately affected by high-severity defects, signaling potential design or supplier quality issues that require escalation beyond the production floor.</a:t>
            </a:r>
          </a:p>
        </p:txBody>
      </p:sp>
      <p:grpSp>
        <p:nvGrpSpPr>
          <p:cNvPr name="Group 9" id="9"/>
          <p:cNvGrpSpPr/>
          <p:nvPr/>
        </p:nvGrpSpPr>
        <p:grpSpPr>
          <a:xfrm rot="0">
            <a:off x="992238" y="7244363"/>
            <a:ext cx="7849200" cy="1450924"/>
            <a:chOff x="0" y="0"/>
            <a:chExt cx="10465600" cy="1934566"/>
          </a:xfrm>
        </p:grpSpPr>
        <p:sp>
          <p:nvSpPr>
            <p:cNvPr name="Freeform 10" id="10"/>
            <p:cNvSpPr/>
            <p:nvPr/>
          </p:nvSpPr>
          <p:spPr>
            <a:xfrm flipH="false" flipV="false" rot="0">
              <a:off x="0" y="0"/>
              <a:ext cx="10465688" cy="1934591"/>
            </a:xfrm>
            <a:custGeom>
              <a:avLst/>
              <a:gdLst/>
              <a:ahLst/>
              <a:cxnLst/>
              <a:rect r="r" b="b" t="t" l="l"/>
              <a:pathLst>
                <a:path h="1934591" w="10465688">
                  <a:moveTo>
                    <a:pt x="0" y="49657"/>
                  </a:moveTo>
                  <a:cubicBezTo>
                    <a:pt x="0" y="22225"/>
                    <a:pt x="22225" y="0"/>
                    <a:pt x="49657" y="0"/>
                  </a:cubicBezTo>
                  <a:lnTo>
                    <a:pt x="10416032" y="0"/>
                  </a:lnTo>
                  <a:cubicBezTo>
                    <a:pt x="10443463" y="0"/>
                    <a:pt x="10465688" y="22225"/>
                    <a:pt x="10465688" y="49657"/>
                  </a:cubicBezTo>
                  <a:lnTo>
                    <a:pt x="10465688" y="1884934"/>
                  </a:lnTo>
                  <a:cubicBezTo>
                    <a:pt x="10465688" y="1912366"/>
                    <a:pt x="10443463" y="1934591"/>
                    <a:pt x="10416032" y="1934591"/>
                  </a:cubicBezTo>
                  <a:lnTo>
                    <a:pt x="49657" y="1934591"/>
                  </a:lnTo>
                  <a:cubicBezTo>
                    <a:pt x="22225" y="1934591"/>
                    <a:pt x="0" y="1912366"/>
                    <a:pt x="0" y="1884934"/>
                  </a:cubicBezTo>
                  <a:close/>
                </a:path>
              </a:pathLst>
            </a:custGeom>
            <a:solidFill>
              <a:srgbClr val="FCF2B5"/>
            </a:solidFill>
          </p:spPr>
        </p:sp>
      </p:grpSp>
      <p:grpSp>
        <p:nvGrpSpPr>
          <p:cNvPr name="Group 11" id="11"/>
          <p:cNvGrpSpPr/>
          <p:nvPr/>
        </p:nvGrpSpPr>
        <p:grpSpPr>
          <a:xfrm rot="0">
            <a:off x="1240184" y="7622972"/>
            <a:ext cx="310010" cy="247945"/>
            <a:chOff x="0" y="0"/>
            <a:chExt cx="413347" cy="330594"/>
          </a:xfrm>
        </p:grpSpPr>
        <p:sp>
          <p:nvSpPr>
            <p:cNvPr name="Freeform 12" id="12" descr="preencoded.png"/>
            <p:cNvSpPr/>
            <p:nvPr/>
          </p:nvSpPr>
          <p:spPr>
            <a:xfrm flipH="false" flipV="false" rot="0">
              <a:off x="0" y="0"/>
              <a:ext cx="413385" cy="330581"/>
            </a:xfrm>
            <a:custGeom>
              <a:avLst/>
              <a:gdLst/>
              <a:ahLst/>
              <a:cxnLst/>
              <a:rect r="r" b="b" t="t" l="l"/>
              <a:pathLst>
                <a:path h="330581" w="413385">
                  <a:moveTo>
                    <a:pt x="0" y="0"/>
                  </a:moveTo>
                  <a:lnTo>
                    <a:pt x="413385" y="0"/>
                  </a:lnTo>
                  <a:lnTo>
                    <a:pt x="413385" y="330581"/>
                  </a:lnTo>
                  <a:lnTo>
                    <a:pt x="0" y="330581"/>
                  </a:lnTo>
                  <a:lnTo>
                    <a:pt x="0" y="0"/>
                  </a:lnTo>
                  <a:close/>
                </a:path>
              </a:pathLst>
            </a:custGeom>
            <a:blipFill>
              <a:blip r:embed="rId2"/>
              <a:stretch>
                <a:fillRect l="-755" t="0" r="-749" b="-3"/>
              </a:stretch>
            </a:blipFill>
          </p:spPr>
        </p:sp>
      </p:grpSp>
      <p:sp>
        <p:nvSpPr>
          <p:cNvPr name="TextBox 13" id="13"/>
          <p:cNvSpPr txBox="true"/>
          <p:nvPr/>
        </p:nvSpPr>
        <p:spPr>
          <a:xfrm rot="0">
            <a:off x="1798139" y="7478020"/>
            <a:ext cx="6795345" cy="870052"/>
          </a:xfrm>
          <a:prstGeom prst="rect">
            <a:avLst/>
          </a:prstGeom>
        </p:spPr>
        <p:txBody>
          <a:bodyPr anchor="t" rtlCol="false" tIns="0" lIns="0" bIns="0" rIns="0">
            <a:spAutoFit/>
          </a:bodyPr>
          <a:lstStyle/>
          <a:p>
            <a:pPr algn="l">
              <a:lnSpc>
                <a:spcPts val="3032"/>
              </a:lnSpc>
            </a:pPr>
            <a:r>
              <a:rPr lang="en-US" sz="1900">
                <a:solidFill>
                  <a:srgbClr val="000000"/>
                </a:solidFill>
                <a:latin typeface="Open Sans"/>
                <a:ea typeface="Open Sans"/>
                <a:cs typeface="Open Sans"/>
                <a:sym typeface="Open Sans"/>
              </a:rPr>
              <a:t>Critical-severity defects should trigger immediate root cause investigation and corrective action protocols.</a:t>
            </a:r>
          </a:p>
        </p:txBody>
      </p:sp>
      <p:grpSp>
        <p:nvGrpSpPr>
          <p:cNvPr name="Group 14" id="14"/>
          <p:cNvGrpSpPr/>
          <p:nvPr/>
        </p:nvGrpSpPr>
        <p:grpSpPr>
          <a:xfrm rot="0">
            <a:off x="9456096" y="3225556"/>
            <a:ext cx="7849200" cy="4380900"/>
            <a:chOff x="0" y="0"/>
            <a:chExt cx="10465600" cy="5841200"/>
          </a:xfrm>
        </p:grpSpPr>
        <p:sp>
          <p:nvSpPr>
            <p:cNvPr name="Freeform 15" id="15" descr="preencoded.png"/>
            <p:cNvSpPr/>
            <p:nvPr/>
          </p:nvSpPr>
          <p:spPr>
            <a:xfrm flipH="false" flipV="false" rot="0">
              <a:off x="0" y="0"/>
              <a:ext cx="10465562" cy="5841238"/>
            </a:xfrm>
            <a:custGeom>
              <a:avLst/>
              <a:gdLst/>
              <a:ahLst/>
              <a:cxnLst/>
              <a:rect r="r" b="b" t="t" l="l"/>
              <a:pathLst>
                <a:path h="5841238" w="10465562">
                  <a:moveTo>
                    <a:pt x="0" y="0"/>
                  </a:moveTo>
                  <a:lnTo>
                    <a:pt x="10465562" y="0"/>
                  </a:lnTo>
                  <a:lnTo>
                    <a:pt x="10465562" y="5841238"/>
                  </a:lnTo>
                  <a:lnTo>
                    <a:pt x="0" y="5841238"/>
                  </a:lnTo>
                  <a:lnTo>
                    <a:pt x="0" y="0"/>
                  </a:lnTo>
                  <a:close/>
                </a:path>
              </a:pathLst>
            </a:custGeom>
            <a:blipFill>
              <a:blip r:embed="rId3"/>
              <a:stretch>
                <a:fillRect l="0" t="-10" r="0" b="-1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884482"/>
            <a:ext cx="4071042" cy="387696"/>
          </a:xfrm>
          <a:prstGeom prst="rect">
            <a:avLst/>
          </a:prstGeom>
        </p:spPr>
        <p:txBody>
          <a:bodyPr anchor="t" rtlCol="false" tIns="0" lIns="0" bIns="0" rIns="0">
            <a:spAutoFit/>
          </a:bodyPr>
          <a:lstStyle/>
          <a:p>
            <a:pPr algn="l">
              <a:lnSpc>
                <a:spcPts val="2995"/>
              </a:lnSpc>
            </a:pPr>
            <a:r>
              <a:rPr lang="en-US" sz="2400">
                <a:solidFill>
                  <a:srgbClr val="403CCF"/>
                </a:solidFill>
                <a:latin typeface="Libre Baskerville"/>
                <a:ea typeface="Libre Baskerville"/>
                <a:cs typeface="Libre Baskerville"/>
                <a:sym typeface="Libre Baskerville"/>
              </a:rPr>
              <a:t>Inspection Methods</a:t>
            </a:r>
          </a:p>
        </p:txBody>
      </p:sp>
      <p:sp>
        <p:nvSpPr>
          <p:cNvPr name="TextBox 7" id="7"/>
          <p:cNvSpPr txBox="true"/>
          <p:nvPr/>
        </p:nvSpPr>
        <p:spPr>
          <a:xfrm rot="0">
            <a:off x="992238" y="1352255"/>
            <a:ext cx="13098961" cy="794147"/>
          </a:xfrm>
          <a:prstGeom prst="rect">
            <a:avLst/>
          </a:prstGeom>
        </p:spPr>
        <p:txBody>
          <a:bodyPr anchor="t" rtlCol="false" tIns="0" lIns="0" bIns="0" rIns="0">
            <a:spAutoFit/>
          </a:bodyPr>
          <a:lstStyle/>
          <a:p>
            <a:pPr algn="l">
              <a:lnSpc>
                <a:spcPts val="5990"/>
              </a:lnSpc>
            </a:pPr>
            <a:r>
              <a:rPr lang="en-US" sz="4800">
                <a:solidFill>
                  <a:srgbClr val="403CCF"/>
                </a:solidFill>
                <a:latin typeface="Libre Baskerville"/>
                <a:ea typeface="Libre Baskerville"/>
                <a:cs typeface="Libre Baskerville"/>
                <a:sym typeface="Libre Baskerville"/>
              </a:rPr>
              <a:t>Which Methods Catch Which Defects?</a:t>
            </a:r>
          </a:p>
        </p:txBody>
      </p:sp>
      <p:sp>
        <p:nvSpPr>
          <p:cNvPr name="TextBox 8" id="8"/>
          <p:cNvSpPr txBox="true"/>
          <p:nvPr/>
        </p:nvSpPr>
        <p:spPr>
          <a:xfrm rot="0">
            <a:off x="992238" y="2442267"/>
            <a:ext cx="16303523" cy="1266977"/>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Not all inspection methods are equally effective across defect types. Visual inspections are fast and low-cost but may miss internal structural flaws. Automated sensor-based methods excel at detecting dimensional anomalies. Manual testing catches functional failures that other methods miss. Analyzing detection rates by method helps optimize the inspection mix and reduce escape rates.</a:t>
            </a:r>
          </a:p>
        </p:txBody>
      </p:sp>
      <p:sp>
        <p:nvSpPr>
          <p:cNvPr name="Freeform 9" id="9" descr="preencoded.png"/>
          <p:cNvSpPr/>
          <p:nvPr/>
        </p:nvSpPr>
        <p:spPr>
          <a:xfrm flipH="false" flipV="false" rot="0">
            <a:off x="992238" y="3988298"/>
            <a:ext cx="620163" cy="620163"/>
          </a:xfrm>
          <a:custGeom>
            <a:avLst/>
            <a:gdLst/>
            <a:ahLst/>
            <a:cxnLst/>
            <a:rect r="r" b="b" t="t" l="l"/>
            <a:pathLst>
              <a:path h="620163" w="620163">
                <a:moveTo>
                  <a:pt x="0" y="0"/>
                </a:moveTo>
                <a:lnTo>
                  <a:pt x="620164" y="0"/>
                </a:lnTo>
                <a:lnTo>
                  <a:pt x="620164" y="620164"/>
                </a:lnTo>
                <a:lnTo>
                  <a:pt x="0" y="620164"/>
                </a:lnTo>
                <a:lnTo>
                  <a:pt x="0" y="0"/>
                </a:lnTo>
                <a:close/>
              </a:path>
            </a:pathLst>
          </a:custGeom>
          <a:blipFill>
            <a:blip r:embed="rId2">
              <a:extLst>
                <a:ext uri="{96DAC541-7B7A-43D3-8B79-37D633B846F1}">
                  <asvg:svgBlip xmlns:asvg="http://schemas.microsoft.com/office/drawing/2016/SVG/main" r:embed="rId3"/>
                </a:ext>
              </a:extLst>
            </a:blip>
            <a:stretch>
              <a:fillRect l="-30303" t="0" r="-30303" b="0"/>
            </a:stretch>
          </a:blipFill>
        </p:spPr>
      </p:sp>
      <p:sp>
        <p:nvSpPr>
          <p:cNvPr name="TextBox 10" id="10"/>
          <p:cNvSpPr txBox="true"/>
          <p:nvPr/>
        </p:nvSpPr>
        <p:spPr>
          <a:xfrm rot="0">
            <a:off x="992238" y="4918472"/>
            <a:ext cx="3101130" cy="387696"/>
          </a:xfrm>
          <a:prstGeom prst="rect">
            <a:avLst/>
          </a:prstGeom>
        </p:spPr>
        <p:txBody>
          <a:bodyPr anchor="t" rtlCol="false" tIns="0" lIns="0" bIns="0" rIns="0">
            <a:spAutoFit/>
          </a:bodyPr>
          <a:lstStyle/>
          <a:p>
            <a:pPr algn="l">
              <a:lnSpc>
                <a:spcPts val="2995"/>
              </a:lnSpc>
            </a:pPr>
            <a:r>
              <a:rPr lang="en-US" sz="2400">
                <a:solidFill>
                  <a:srgbClr val="49495A"/>
                </a:solidFill>
                <a:latin typeface="Libre Baskerville"/>
                <a:ea typeface="Libre Baskerville"/>
                <a:cs typeface="Libre Baskerville"/>
                <a:sym typeface="Libre Baskerville"/>
              </a:rPr>
              <a:t>Visual Inspection</a:t>
            </a:r>
          </a:p>
        </p:txBody>
      </p:sp>
      <p:sp>
        <p:nvSpPr>
          <p:cNvPr name="TextBox 11" id="11"/>
          <p:cNvSpPr txBox="true"/>
          <p:nvPr/>
        </p:nvSpPr>
        <p:spPr>
          <a:xfrm rot="0">
            <a:off x="992238" y="5378796"/>
            <a:ext cx="7996685" cy="1266977"/>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Human-led examination best suited for cosmetic and surface-level defects. Fast and flexible but subject to inspector fatigue and variability.</a:t>
            </a:r>
          </a:p>
        </p:txBody>
      </p:sp>
      <p:sp>
        <p:nvSpPr>
          <p:cNvPr name="Freeform 12" id="12" descr="preencoded.png"/>
          <p:cNvSpPr/>
          <p:nvPr/>
        </p:nvSpPr>
        <p:spPr>
          <a:xfrm flipH="false" flipV="false" rot="0">
            <a:off x="9298934" y="3988298"/>
            <a:ext cx="620163" cy="620163"/>
          </a:xfrm>
          <a:custGeom>
            <a:avLst/>
            <a:gdLst/>
            <a:ahLst/>
            <a:cxnLst/>
            <a:rect r="r" b="b" t="t" l="l"/>
            <a:pathLst>
              <a:path h="620163" w="620163">
                <a:moveTo>
                  <a:pt x="0" y="0"/>
                </a:moveTo>
                <a:lnTo>
                  <a:pt x="620163" y="0"/>
                </a:lnTo>
                <a:lnTo>
                  <a:pt x="620163" y="620164"/>
                </a:lnTo>
                <a:lnTo>
                  <a:pt x="0" y="620164"/>
                </a:lnTo>
                <a:lnTo>
                  <a:pt x="0" y="0"/>
                </a:lnTo>
                <a:close/>
              </a:path>
            </a:pathLst>
          </a:custGeom>
          <a:blipFill>
            <a:blip r:embed="rId4">
              <a:extLst>
                <a:ext uri="{96DAC541-7B7A-43D3-8B79-37D633B846F1}">
                  <asvg:svgBlip xmlns:asvg="http://schemas.microsoft.com/office/drawing/2016/SVG/main" r:embed="rId5"/>
                </a:ext>
              </a:extLst>
            </a:blip>
            <a:stretch>
              <a:fillRect l="0" t="-36363" r="0" b="-36365"/>
            </a:stretch>
          </a:blipFill>
        </p:spPr>
      </p:sp>
      <p:sp>
        <p:nvSpPr>
          <p:cNvPr name="TextBox 13" id="13"/>
          <p:cNvSpPr txBox="true"/>
          <p:nvPr/>
        </p:nvSpPr>
        <p:spPr>
          <a:xfrm rot="0">
            <a:off x="9298934" y="4918472"/>
            <a:ext cx="3101130" cy="387696"/>
          </a:xfrm>
          <a:prstGeom prst="rect">
            <a:avLst/>
          </a:prstGeom>
        </p:spPr>
        <p:txBody>
          <a:bodyPr anchor="t" rtlCol="false" tIns="0" lIns="0" bIns="0" rIns="0">
            <a:spAutoFit/>
          </a:bodyPr>
          <a:lstStyle/>
          <a:p>
            <a:pPr algn="l">
              <a:lnSpc>
                <a:spcPts val="2995"/>
              </a:lnSpc>
            </a:pPr>
            <a:r>
              <a:rPr lang="en-US" sz="2400">
                <a:solidFill>
                  <a:srgbClr val="49495A"/>
                </a:solidFill>
                <a:latin typeface="Libre Baskerville"/>
                <a:ea typeface="Libre Baskerville"/>
                <a:cs typeface="Libre Baskerville"/>
                <a:sym typeface="Libre Baskerville"/>
              </a:rPr>
              <a:t>Automated Sensing</a:t>
            </a:r>
          </a:p>
        </p:txBody>
      </p:sp>
      <p:sp>
        <p:nvSpPr>
          <p:cNvPr name="TextBox 14" id="14"/>
          <p:cNvSpPr txBox="true"/>
          <p:nvPr/>
        </p:nvSpPr>
        <p:spPr>
          <a:xfrm rot="0">
            <a:off x="9298934" y="5378796"/>
            <a:ext cx="7996828" cy="870052"/>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Machine vision and sensor arrays detect dimensional and structural anomalies with high repeatability. Ideal for high-volume lines.</a:t>
            </a:r>
          </a:p>
        </p:txBody>
      </p:sp>
      <p:sp>
        <p:nvSpPr>
          <p:cNvPr name="Freeform 15" id="15" descr="preencoded.png"/>
          <p:cNvSpPr/>
          <p:nvPr/>
        </p:nvSpPr>
        <p:spPr>
          <a:xfrm flipH="false" flipV="false" rot="0">
            <a:off x="992238" y="7141816"/>
            <a:ext cx="620163" cy="620163"/>
          </a:xfrm>
          <a:custGeom>
            <a:avLst/>
            <a:gdLst/>
            <a:ahLst/>
            <a:cxnLst/>
            <a:rect r="r" b="b" t="t" l="l"/>
            <a:pathLst>
              <a:path h="620163" w="620163">
                <a:moveTo>
                  <a:pt x="0" y="0"/>
                </a:moveTo>
                <a:lnTo>
                  <a:pt x="620164" y="0"/>
                </a:lnTo>
                <a:lnTo>
                  <a:pt x="620164" y="620164"/>
                </a:lnTo>
                <a:lnTo>
                  <a:pt x="0" y="620164"/>
                </a:lnTo>
                <a:lnTo>
                  <a:pt x="0" y="0"/>
                </a:lnTo>
                <a:close/>
              </a:path>
            </a:pathLst>
          </a:custGeom>
          <a:blipFill>
            <a:blip r:embed="rId6">
              <a:extLst>
                <a:ext uri="{96DAC541-7B7A-43D3-8B79-37D633B846F1}">
                  <asvg:svgBlip xmlns:asvg="http://schemas.microsoft.com/office/drawing/2016/SVG/main" r:embed="rId7"/>
                </a:ext>
              </a:extLst>
            </a:blip>
            <a:stretch>
              <a:fillRect l="-757" t="0" r="-758" b="0"/>
            </a:stretch>
          </a:blipFill>
        </p:spPr>
      </p:sp>
      <p:sp>
        <p:nvSpPr>
          <p:cNvPr name="TextBox 16" id="16"/>
          <p:cNvSpPr txBox="true"/>
          <p:nvPr/>
        </p:nvSpPr>
        <p:spPr>
          <a:xfrm rot="0">
            <a:off x="992238" y="8071990"/>
            <a:ext cx="3101130" cy="387696"/>
          </a:xfrm>
          <a:prstGeom prst="rect">
            <a:avLst/>
          </a:prstGeom>
        </p:spPr>
        <p:txBody>
          <a:bodyPr anchor="t" rtlCol="false" tIns="0" lIns="0" bIns="0" rIns="0">
            <a:spAutoFit/>
          </a:bodyPr>
          <a:lstStyle/>
          <a:p>
            <a:pPr algn="l">
              <a:lnSpc>
                <a:spcPts val="2995"/>
              </a:lnSpc>
            </a:pPr>
            <a:r>
              <a:rPr lang="en-US" sz="2400">
                <a:solidFill>
                  <a:srgbClr val="49495A"/>
                </a:solidFill>
                <a:latin typeface="Libre Baskerville"/>
                <a:ea typeface="Libre Baskerville"/>
                <a:cs typeface="Libre Baskerville"/>
                <a:sym typeface="Libre Baskerville"/>
              </a:rPr>
              <a:t>Functional Testing</a:t>
            </a:r>
          </a:p>
        </p:txBody>
      </p:sp>
      <p:sp>
        <p:nvSpPr>
          <p:cNvPr name="TextBox 17" id="17"/>
          <p:cNvSpPr txBox="true"/>
          <p:nvPr/>
        </p:nvSpPr>
        <p:spPr>
          <a:xfrm rot="0">
            <a:off x="992238" y="8532314"/>
            <a:ext cx="7996685" cy="870052"/>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Operational tests that verify product performance under load or simulated use. Catches functional defects other methods miss.</a:t>
            </a:r>
          </a:p>
        </p:txBody>
      </p:sp>
      <p:sp>
        <p:nvSpPr>
          <p:cNvPr name="Freeform 18" id="18" descr="preencoded.png"/>
          <p:cNvSpPr/>
          <p:nvPr/>
        </p:nvSpPr>
        <p:spPr>
          <a:xfrm flipH="false" flipV="false" rot="0">
            <a:off x="9298934" y="7141816"/>
            <a:ext cx="620163" cy="620163"/>
          </a:xfrm>
          <a:custGeom>
            <a:avLst/>
            <a:gdLst/>
            <a:ahLst/>
            <a:cxnLst/>
            <a:rect r="r" b="b" t="t" l="l"/>
            <a:pathLst>
              <a:path h="620163" w="620163">
                <a:moveTo>
                  <a:pt x="0" y="0"/>
                </a:moveTo>
                <a:lnTo>
                  <a:pt x="620163" y="0"/>
                </a:lnTo>
                <a:lnTo>
                  <a:pt x="620163" y="620164"/>
                </a:lnTo>
                <a:lnTo>
                  <a:pt x="0" y="620164"/>
                </a:lnTo>
                <a:lnTo>
                  <a:pt x="0" y="0"/>
                </a:lnTo>
                <a:close/>
              </a:path>
            </a:pathLst>
          </a:custGeom>
          <a:blipFill>
            <a:blip r:embed="rId8">
              <a:extLst>
                <a:ext uri="{96DAC541-7B7A-43D3-8B79-37D633B846F1}">
                  <asvg:svgBlip xmlns:asvg="http://schemas.microsoft.com/office/drawing/2016/SVG/main" r:embed="rId9"/>
                </a:ext>
              </a:extLst>
            </a:blip>
            <a:stretch>
              <a:fillRect l="0" t="-757" r="0" b="-758"/>
            </a:stretch>
          </a:blipFill>
        </p:spPr>
      </p:sp>
      <p:sp>
        <p:nvSpPr>
          <p:cNvPr name="TextBox 19" id="19"/>
          <p:cNvSpPr txBox="true"/>
          <p:nvPr/>
        </p:nvSpPr>
        <p:spPr>
          <a:xfrm rot="0">
            <a:off x="9298934" y="8071990"/>
            <a:ext cx="3101130" cy="387696"/>
          </a:xfrm>
          <a:prstGeom prst="rect">
            <a:avLst/>
          </a:prstGeom>
        </p:spPr>
        <p:txBody>
          <a:bodyPr anchor="t" rtlCol="false" tIns="0" lIns="0" bIns="0" rIns="0">
            <a:spAutoFit/>
          </a:bodyPr>
          <a:lstStyle/>
          <a:p>
            <a:pPr algn="l">
              <a:lnSpc>
                <a:spcPts val="2995"/>
              </a:lnSpc>
            </a:pPr>
            <a:r>
              <a:rPr lang="en-US" sz="2400">
                <a:solidFill>
                  <a:srgbClr val="49495A"/>
                </a:solidFill>
                <a:latin typeface="Libre Baskerville"/>
                <a:ea typeface="Libre Baskerville"/>
                <a:cs typeface="Libre Baskerville"/>
                <a:sym typeface="Libre Baskerville"/>
              </a:rPr>
              <a:t>Manual Sampling</a:t>
            </a:r>
          </a:p>
        </p:txBody>
      </p:sp>
      <p:sp>
        <p:nvSpPr>
          <p:cNvPr name="TextBox 20" id="20"/>
          <p:cNvSpPr txBox="true"/>
          <p:nvPr/>
        </p:nvSpPr>
        <p:spPr>
          <a:xfrm rot="0">
            <a:off x="9298934" y="8532314"/>
            <a:ext cx="7996828" cy="870052"/>
          </a:xfrm>
          <a:prstGeom prst="rect">
            <a:avLst/>
          </a:prstGeom>
        </p:spPr>
        <p:txBody>
          <a:bodyPr anchor="t" rtlCol="false" tIns="0" lIns="0" bIns="0" rIns="0">
            <a:spAutoFit/>
          </a:bodyPr>
          <a:lstStyle/>
          <a:p>
            <a:pPr algn="l">
              <a:lnSpc>
                <a:spcPts val="3032"/>
              </a:lnSpc>
            </a:pPr>
            <a:r>
              <a:rPr lang="en-US" sz="1900">
                <a:solidFill>
                  <a:srgbClr val="49495A"/>
                </a:solidFill>
                <a:latin typeface="Open Sans"/>
                <a:ea typeface="Open Sans"/>
                <a:cs typeface="Open Sans"/>
                <a:sym typeface="Open Sans"/>
              </a:rPr>
              <a:t>Statistical sampling protocols applied at key process checkpoints. Balances coverage with inspection cost in lower-risk stages.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899217" y="625078"/>
            <a:ext cx="3724723" cy="360759"/>
          </a:xfrm>
          <a:prstGeom prst="rect">
            <a:avLst/>
          </a:prstGeom>
        </p:spPr>
        <p:txBody>
          <a:bodyPr anchor="t" rtlCol="false" tIns="0" lIns="0" bIns="0" rIns="0">
            <a:spAutoFit/>
          </a:bodyPr>
          <a:lstStyle/>
          <a:p>
            <a:pPr algn="l">
              <a:lnSpc>
                <a:spcPts val="2745"/>
              </a:lnSpc>
            </a:pPr>
            <a:r>
              <a:rPr lang="en-US" sz="2200">
                <a:solidFill>
                  <a:srgbClr val="403CCF"/>
                </a:solidFill>
                <a:latin typeface="Libre Baskerville"/>
                <a:ea typeface="Libre Baskerville"/>
                <a:cs typeface="Libre Baskerville"/>
                <a:sym typeface="Libre Baskerville"/>
              </a:rPr>
              <a:t>Pattern Discovery</a:t>
            </a:r>
          </a:p>
        </p:txBody>
      </p:sp>
      <p:sp>
        <p:nvSpPr>
          <p:cNvPr name="TextBox 7" id="7"/>
          <p:cNvSpPr txBox="true"/>
          <p:nvPr/>
        </p:nvSpPr>
        <p:spPr>
          <a:xfrm rot="0">
            <a:off x="899217" y="1048198"/>
            <a:ext cx="10831706" cy="721671"/>
          </a:xfrm>
          <a:prstGeom prst="rect">
            <a:avLst/>
          </a:prstGeom>
        </p:spPr>
        <p:txBody>
          <a:bodyPr anchor="t" rtlCol="false" tIns="0" lIns="0" bIns="0" rIns="0">
            <a:spAutoFit/>
          </a:bodyPr>
          <a:lstStyle/>
          <a:p>
            <a:pPr algn="l">
              <a:lnSpc>
                <a:spcPts val="5491"/>
              </a:lnSpc>
            </a:pPr>
            <a:r>
              <a:rPr lang="en-US" sz="4400">
                <a:solidFill>
                  <a:srgbClr val="403CCF"/>
                </a:solidFill>
                <a:latin typeface="Libre Baskerville"/>
                <a:ea typeface="Libre Baskerville"/>
                <a:cs typeface="Libre Baskerville"/>
                <a:sym typeface="Libre Baskerville"/>
              </a:rPr>
              <a:t>Product ID &amp; Defect Relationships</a:t>
            </a:r>
          </a:p>
        </p:txBody>
      </p:sp>
      <p:grpSp>
        <p:nvGrpSpPr>
          <p:cNvPr name="Group 8" id="8"/>
          <p:cNvGrpSpPr/>
          <p:nvPr/>
        </p:nvGrpSpPr>
        <p:grpSpPr>
          <a:xfrm rot="0">
            <a:off x="899217" y="2304602"/>
            <a:ext cx="7118452" cy="7118452"/>
            <a:chOff x="0" y="0"/>
            <a:chExt cx="9491269" cy="9491269"/>
          </a:xfrm>
        </p:grpSpPr>
        <p:sp>
          <p:nvSpPr>
            <p:cNvPr name="Freeform 9" id="9" descr="preencoded.png"/>
            <p:cNvSpPr/>
            <p:nvPr/>
          </p:nvSpPr>
          <p:spPr>
            <a:xfrm flipH="false" flipV="false" rot="0">
              <a:off x="0" y="0"/>
              <a:ext cx="9491218" cy="9491218"/>
            </a:xfrm>
            <a:custGeom>
              <a:avLst/>
              <a:gdLst/>
              <a:ahLst/>
              <a:cxnLst/>
              <a:rect r="r" b="b" t="t" l="l"/>
              <a:pathLst>
                <a:path h="9491218" w="9491218">
                  <a:moveTo>
                    <a:pt x="0" y="0"/>
                  </a:moveTo>
                  <a:lnTo>
                    <a:pt x="9491218" y="0"/>
                  </a:lnTo>
                  <a:lnTo>
                    <a:pt x="9491218" y="9491218"/>
                  </a:lnTo>
                  <a:lnTo>
                    <a:pt x="0" y="9491218"/>
                  </a:lnTo>
                  <a:lnTo>
                    <a:pt x="0" y="0"/>
                  </a:lnTo>
                  <a:close/>
                </a:path>
              </a:pathLst>
            </a:custGeom>
            <a:blipFill>
              <a:blip r:embed="rId2"/>
              <a:stretch>
                <a:fillRect l="0" t="0" r="0" b="0"/>
              </a:stretch>
            </a:blipFill>
          </p:spPr>
        </p:sp>
      </p:grpSp>
      <p:sp>
        <p:nvSpPr>
          <p:cNvPr name="TextBox 10" id="10"/>
          <p:cNvSpPr txBox="true"/>
          <p:nvPr/>
        </p:nvSpPr>
        <p:spPr>
          <a:xfrm rot="0">
            <a:off x="8575777" y="2211143"/>
            <a:ext cx="8822379" cy="2974181"/>
          </a:xfrm>
          <a:prstGeom prst="rect">
            <a:avLst/>
          </a:prstGeom>
        </p:spPr>
        <p:txBody>
          <a:bodyPr anchor="t" rtlCol="false" tIns="0" lIns="0" bIns="0" rIns="0">
            <a:spAutoFit/>
          </a:bodyPr>
          <a:lstStyle/>
          <a:p>
            <a:pPr algn="l">
              <a:lnSpc>
                <a:spcPts val="2590"/>
              </a:lnSpc>
            </a:pPr>
            <a:r>
              <a:rPr lang="en-US" sz="1700">
                <a:solidFill>
                  <a:srgbClr val="49495A"/>
                </a:solidFill>
                <a:latin typeface="Open Sans"/>
                <a:ea typeface="Open Sans"/>
                <a:cs typeface="Open Sans"/>
                <a:sym typeface="Open Sans"/>
              </a:rPr>
              <a:t>Plotting defect frequency and severity against Product ID is one of the most powerful pattern-discovery techniques in this analysis. When certain products consistently show higher defect rates or cluster toward higher severity, it points to systemic issues — whether in design tolerances, supplier materials, or assembly procedures specific to that product line.</a:t>
            </a:r>
          </a:p>
          <a:p>
            <a:pPr algn="l">
              <a:lnSpc>
                <a:spcPts val="2590"/>
              </a:lnSpc>
            </a:pPr>
            <a:r>
              <a:rPr lang="en-US" sz="1700">
                <a:solidFill>
                  <a:srgbClr val="49495A"/>
                </a:solidFill>
                <a:latin typeface="Open Sans"/>
                <a:ea typeface="Open Sans"/>
                <a:cs typeface="Open Sans"/>
                <a:sym typeface="Open Sans"/>
              </a:rPr>
              <a:t>Scatter plots and heatmaps reveal correlations that summary statistics alone would miss. Products with both high frequency </a:t>
            </a:r>
            <a:r>
              <a:rPr lang="en-US" sz="1700" i="true">
                <a:solidFill>
                  <a:srgbClr val="49495A"/>
                </a:solidFill>
                <a:latin typeface="Open Sans Italics"/>
                <a:ea typeface="Open Sans Italics"/>
                <a:cs typeface="Open Sans Italics"/>
                <a:sym typeface="Open Sans Italics"/>
              </a:rPr>
              <a:t>and</a:t>
            </a:r>
            <a:r>
              <a:rPr lang="en-US" sz="1700">
                <a:solidFill>
                  <a:srgbClr val="49495A"/>
                </a:solidFill>
                <a:latin typeface="Open Sans"/>
                <a:ea typeface="Open Sans"/>
                <a:cs typeface="Open Sans"/>
                <a:sym typeface="Open Sans"/>
              </a:rPr>
              <a:t> high severity represent the highest-priority targets for engineering intervention and process redesign.</a:t>
            </a:r>
          </a:p>
        </p:txBody>
      </p:sp>
      <p:sp>
        <p:nvSpPr>
          <p:cNvPr name="Freeform 11" id="11" descr="preencoded.png"/>
          <p:cNvSpPr/>
          <p:nvPr/>
        </p:nvSpPr>
        <p:spPr>
          <a:xfrm flipH="false" flipV="false" rot="0">
            <a:off x="8660006" y="5421440"/>
            <a:ext cx="337242" cy="337242"/>
          </a:xfrm>
          <a:custGeom>
            <a:avLst/>
            <a:gdLst/>
            <a:ahLst/>
            <a:cxnLst/>
            <a:rect r="r" b="b" t="t" l="l"/>
            <a:pathLst>
              <a:path h="337242" w="337242">
                <a:moveTo>
                  <a:pt x="0" y="0"/>
                </a:moveTo>
                <a:lnTo>
                  <a:pt x="337242" y="0"/>
                </a:lnTo>
                <a:lnTo>
                  <a:pt x="337242" y="337242"/>
                </a:lnTo>
                <a:lnTo>
                  <a:pt x="0" y="337242"/>
                </a:lnTo>
                <a:lnTo>
                  <a:pt x="0" y="0"/>
                </a:lnTo>
                <a:close/>
              </a:path>
            </a:pathLst>
          </a:custGeom>
          <a:blipFill>
            <a:blip r:embed="rId3">
              <a:extLst>
                <a:ext uri="{96DAC541-7B7A-43D3-8B79-37D633B846F1}">
                  <asvg:svgBlip xmlns:asvg="http://schemas.microsoft.com/office/drawing/2016/SVG/main" r:embed="rId4"/>
                </a:ext>
              </a:extLst>
            </a:blip>
            <a:stretch>
              <a:fillRect l="-8334" t="0" r="-8331" b="0"/>
            </a:stretch>
          </a:blipFill>
        </p:spPr>
      </p:sp>
      <p:sp>
        <p:nvSpPr>
          <p:cNvPr name="TextBox 12" id="12"/>
          <p:cNvSpPr txBox="true"/>
          <p:nvPr/>
        </p:nvSpPr>
        <p:spPr>
          <a:xfrm rot="0">
            <a:off x="9306373" y="5404990"/>
            <a:ext cx="4618139" cy="360759"/>
          </a:xfrm>
          <a:prstGeom prst="rect">
            <a:avLst/>
          </a:prstGeom>
        </p:spPr>
        <p:txBody>
          <a:bodyPr anchor="t" rtlCol="false" tIns="0" lIns="0" bIns="0" rIns="0">
            <a:spAutoFit/>
          </a:bodyPr>
          <a:lstStyle/>
          <a:p>
            <a:pPr algn="l">
              <a:lnSpc>
                <a:spcPts val="2745"/>
              </a:lnSpc>
            </a:pPr>
            <a:r>
              <a:rPr lang="en-US" sz="2200">
                <a:solidFill>
                  <a:srgbClr val="49495A"/>
                </a:solidFill>
                <a:latin typeface="Libre Baskerville"/>
                <a:ea typeface="Libre Baskerville"/>
                <a:cs typeface="Libre Baskerville"/>
                <a:sym typeface="Libre Baskerville"/>
              </a:rPr>
              <a:t>High Frequency + High Severity</a:t>
            </a:r>
          </a:p>
        </p:txBody>
      </p:sp>
      <p:sp>
        <p:nvSpPr>
          <p:cNvPr name="TextBox 13" id="13"/>
          <p:cNvSpPr txBox="true"/>
          <p:nvPr/>
        </p:nvSpPr>
        <p:spPr>
          <a:xfrm rot="0">
            <a:off x="9306373" y="5921873"/>
            <a:ext cx="8091783" cy="390525"/>
          </a:xfrm>
          <a:prstGeom prst="rect">
            <a:avLst/>
          </a:prstGeom>
        </p:spPr>
        <p:txBody>
          <a:bodyPr anchor="t" rtlCol="false" tIns="0" lIns="0" bIns="0" rIns="0">
            <a:spAutoFit/>
          </a:bodyPr>
          <a:lstStyle/>
          <a:p>
            <a:pPr algn="l">
              <a:lnSpc>
                <a:spcPts val="2590"/>
              </a:lnSpc>
            </a:pPr>
            <a:r>
              <a:rPr lang="en-US" sz="1700">
                <a:solidFill>
                  <a:srgbClr val="49495A"/>
                </a:solidFill>
                <a:latin typeface="Open Sans"/>
                <a:ea typeface="Open Sans"/>
                <a:cs typeface="Open Sans"/>
                <a:sym typeface="Open Sans"/>
              </a:rPr>
              <a:t>Immediate engineering review required</a:t>
            </a:r>
          </a:p>
        </p:txBody>
      </p:sp>
      <p:sp>
        <p:nvSpPr>
          <p:cNvPr name="Freeform 14" id="14" descr="preencoded.png"/>
          <p:cNvSpPr/>
          <p:nvPr/>
        </p:nvSpPr>
        <p:spPr>
          <a:xfrm flipH="false" flipV="false" rot="0">
            <a:off x="8660006" y="6726812"/>
            <a:ext cx="337242" cy="337242"/>
          </a:xfrm>
          <a:custGeom>
            <a:avLst/>
            <a:gdLst/>
            <a:ahLst/>
            <a:cxnLst/>
            <a:rect r="r" b="b" t="t" l="l"/>
            <a:pathLst>
              <a:path h="337242" w="337242">
                <a:moveTo>
                  <a:pt x="0" y="0"/>
                </a:moveTo>
                <a:lnTo>
                  <a:pt x="337242" y="0"/>
                </a:lnTo>
                <a:lnTo>
                  <a:pt x="337242" y="337242"/>
                </a:lnTo>
                <a:lnTo>
                  <a:pt x="0" y="337242"/>
                </a:lnTo>
                <a:lnTo>
                  <a:pt x="0" y="0"/>
                </a:lnTo>
                <a:close/>
              </a:path>
            </a:pathLst>
          </a:custGeom>
          <a:blipFill>
            <a:blip r:embed="rId3">
              <a:extLst>
                <a:ext uri="{96DAC541-7B7A-43D3-8B79-37D633B846F1}">
                  <asvg:svgBlip xmlns:asvg="http://schemas.microsoft.com/office/drawing/2016/SVG/main" r:embed="rId4"/>
                </a:ext>
              </a:extLst>
            </a:blip>
            <a:stretch>
              <a:fillRect l="-8334" t="0" r="-8331" b="0"/>
            </a:stretch>
          </a:blipFill>
        </p:spPr>
      </p:sp>
      <p:sp>
        <p:nvSpPr>
          <p:cNvPr name="TextBox 15" id="15"/>
          <p:cNvSpPr txBox="true"/>
          <p:nvPr/>
        </p:nvSpPr>
        <p:spPr>
          <a:xfrm rot="0">
            <a:off x="9306373" y="6710363"/>
            <a:ext cx="4514698" cy="360759"/>
          </a:xfrm>
          <a:prstGeom prst="rect">
            <a:avLst/>
          </a:prstGeom>
        </p:spPr>
        <p:txBody>
          <a:bodyPr anchor="t" rtlCol="false" tIns="0" lIns="0" bIns="0" rIns="0">
            <a:spAutoFit/>
          </a:bodyPr>
          <a:lstStyle/>
          <a:p>
            <a:pPr algn="l">
              <a:lnSpc>
                <a:spcPts val="2745"/>
              </a:lnSpc>
            </a:pPr>
            <a:r>
              <a:rPr lang="en-US" sz="2200">
                <a:solidFill>
                  <a:srgbClr val="49495A"/>
                </a:solidFill>
                <a:latin typeface="Libre Baskerville"/>
                <a:ea typeface="Libre Baskerville"/>
                <a:cs typeface="Libre Baskerville"/>
                <a:sym typeface="Libre Baskerville"/>
              </a:rPr>
              <a:t>High Frequency + Low Severity</a:t>
            </a:r>
          </a:p>
        </p:txBody>
      </p:sp>
      <p:sp>
        <p:nvSpPr>
          <p:cNvPr name="TextBox 16" id="16"/>
          <p:cNvSpPr txBox="true"/>
          <p:nvPr/>
        </p:nvSpPr>
        <p:spPr>
          <a:xfrm rot="0">
            <a:off x="9306373" y="7227246"/>
            <a:ext cx="8091783" cy="390525"/>
          </a:xfrm>
          <a:prstGeom prst="rect">
            <a:avLst/>
          </a:prstGeom>
        </p:spPr>
        <p:txBody>
          <a:bodyPr anchor="t" rtlCol="false" tIns="0" lIns="0" bIns="0" rIns="0">
            <a:spAutoFit/>
          </a:bodyPr>
          <a:lstStyle/>
          <a:p>
            <a:pPr algn="l">
              <a:lnSpc>
                <a:spcPts val="2590"/>
              </a:lnSpc>
            </a:pPr>
            <a:r>
              <a:rPr lang="en-US" sz="1700">
                <a:solidFill>
                  <a:srgbClr val="49495A"/>
                </a:solidFill>
                <a:latin typeface="Open Sans"/>
                <a:ea typeface="Open Sans"/>
                <a:cs typeface="Open Sans"/>
                <a:sym typeface="Open Sans"/>
              </a:rPr>
              <a:t>Process optimization opportunity</a:t>
            </a:r>
          </a:p>
        </p:txBody>
      </p:sp>
      <p:sp>
        <p:nvSpPr>
          <p:cNvPr name="Freeform 17" id="17" descr="preencoded.png"/>
          <p:cNvSpPr/>
          <p:nvPr/>
        </p:nvSpPr>
        <p:spPr>
          <a:xfrm flipH="false" flipV="false" rot="0">
            <a:off x="8660006" y="8032175"/>
            <a:ext cx="337242" cy="337242"/>
          </a:xfrm>
          <a:custGeom>
            <a:avLst/>
            <a:gdLst/>
            <a:ahLst/>
            <a:cxnLst/>
            <a:rect r="r" b="b" t="t" l="l"/>
            <a:pathLst>
              <a:path h="337242" w="337242">
                <a:moveTo>
                  <a:pt x="0" y="0"/>
                </a:moveTo>
                <a:lnTo>
                  <a:pt x="337242" y="0"/>
                </a:lnTo>
                <a:lnTo>
                  <a:pt x="337242" y="337242"/>
                </a:lnTo>
                <a:lnTo>
                  <a:pt x="0" y="337242"/>
                </a:lnTo>
                <a:lnTo>
                  <a:pt x="0" y="0"/>
                </a:lnTo>
                <a:close/>
              </a:path>
            </a:pathLst>
          </a:custGeom>
          <a:blipFill>
            <a:blip r:embed="rId3">
              <a:extLst>
                <a:ext uri="{96DAC541-7B7A-43D3-8B79-37D633B846F1}">
                  <asvg:svgBlip xmlns:asvg="http://schemas.microsoft.com/office/drawing/2016/SVG/main" r:embed="rId4"/>
                </a:ext>
              </a:extLst>
            </a:blip>
            <a:stretch>
              <a:fillRect l="-8334" t="0" r="-8331" b="0"/>
            </a:stretch>
          </a:blipFill>
        </p:spPr>
      </p:sp>
      <p:sp>
        <p:nvSpPr>
          <p:cNvPr name="TextBox 18" id="18"/>
          <p:cNvSpPr txBox="true"/>
          <p:nvPr/>
        </p:nvSpPr>
        <p:spPr>
          <a:xfrm rot="0">
            <a:off x="9306373" y="8015735"/>
            <a:ext cx="4514698" cy="360759"/>
          </a:xfrm>
          <a:prstGeom prst="rect">
            <a:avLst/>
          </a:prstGeom>
        </p:spPr>
        <p:txBody>
          <a:bodyPr anchor="t" rtlCol="false" tIns="0" lIns="0" bIns="0" rIns="0">
            <a:spAutoFit/>
          </a:bodyPr>
          <a:lstStyle/>
          <a:p>
            <a:pPr algn="l">
              <a:lnSpc>
                <a:spcPts val="2745"/>
              </a:lnSpc>
            </a:pPr>
            <a:r>
              <a:rPr lang="en-US" sz="2200">
                <a:solidFill>
                  <a:srgbClr val="49495A"/>
                </a:solidFill>
                <a:latin typeface="Libre Baskerville"/>
                <a:ea typeface="Libre Baskerville"/>
                <a:cs typeface="Libre Baskerville"/>
                <a:sym typeface="Libre Baskerville"/>
              </a:rPr>
              <a:t>Low Frequency + High Severity</a:t>
            </a:r>
          </a:p>
        </p:txBody>
      </p:sp>
      <p:sp>
        <p:nvSpPr>
          <p:cNvPr name="TextBox 19" id="19"/>
          <p:cNvSpPr txBox="true"/>
          <p:nvPr/>
        </p:nvSpPr>
        <p:spPr>
          <a:xfrm rot="0">
            <a:off x="9306373" y="8532619"/>
            <a:ext cx="8091783" cy="390525"/>
          </a:xfrm>
          <a:prstGeom prst="rect">
            <a:avLst/>
          </a:prstGeom>
        </p:spPr>
        <p:txBody>
          <a:bodyPr anchor="t" rtlCol="false" tIns="0" lIns="0" bIns="0" rIns="0">
            <a:spAutoFit/>
          </a:bodyPr>
          <a:lstStyle/>
          <a:p>
            <a:pPr algn="l">
              <a:lnSpc>
                <a:spcPts val="2590"/>
              </a:lnSpc>
            </a:pPr>
            <a:r>
              <a:rPr lang="en-US" sz="1700">
                <a:solidFill>
                  <a:srgbClr val="49495A"/>
                </a:solidFill>
                <a:latin typeface="Open Sans"/>
                <a:ea typeface="Open Sans"/>
                <a:cs typeface="Open Sans"/>
                <a:sym typeface="Open Sans"/>
              </a:rPr>
              <a:t>Root cause investigation priority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61282" y="831799"/>
            <a:ext cx="3918642" cy="375495"/>
          </a:xfrm>
          <a:prstGeom prst="rect">
            <a:avLst/>
          </a:prstGeom>
        </p:spPr>
        <p:txBody>
          <a:bodyPr anchor="t" rtlCol="false" tIns="0" lIns="0" bIns="0" rIns="0">
            <a:spAutoFit/>
          </a:bodyPr>
          <a:lstStyle/>
          <a:p>
            <a:pPr algn="l">
              <a:lnSpc>
                <a:spcPts val="2870"/>
              </a:lnSpc>
            </a:pPr>
            <a:r>
              <a:rPr lang="en-US" sz="2300">
                <a:solidFill>
                  <a:srgbClr val="403CCF"/>
                </a:solidFill>
                <a:latin typeface="Libre Baskerville"/>
                <a:ea typeface="Libre Baskerville"/>
                <a:cs typeface="Libre Baskerville"/>
                <a:sym typeface="Libre Baskerville"/>
              </a:rPr>
              <a:t>Key Insights</a:t>
            </a:r>
          </a:p>
        </p:txBody>
      </p:sp>
      <p:sp>
        <p:nvSpPr>
          <p:cNvPr name="TextBox 7" id="7"/>
          <p:cNvSpPr txBox="true"/>
          <p:nvPr/>
        </p:nvSpPr>
        <p:spPr>
          <a:xfrm rot="0">
            <a:off x="961282" y="1281265"/>
            <a:ext cx="7869584" cy="770039"/>
          </a:xfrm>
          <a:prstGeom prst="rect">
            <a:avLst/>
          </a:prstGeom>
        </p:spPr>
        <p:txBody>
          <a:bodyPr anchor="t" rtlCol="false" tIns="0" lIns="0" bIns="0" rIns="0">
            <a:spAutoFit/>
          </a:bodyPr>
          <a:lstStyle/>
          <a:p>
            <a:pPr algn="l">
              <a:lnSpc>
                <a:spcPts val="5865"/>
              </a:lnSpc>
            </a:pPr>
            <a:r>
              <a:rPr lang="en-US" sz="4700">
                <a:solidFill>
                  <a:srgbClr val="403CCF"/>
                </a:solidFill>
                <a:latin typeface="Libre Baskerville"/>
                <a:ea typeface="Libre Baskerville"/>
                <a:cs typeface="Libre Baskerville"/>
                <a:sym typeface="Libre Baskerville"/>
              </a:rPr>
              <a:t>What the Data Tells Us</a:t>
            </a:r>
          </a:p>
        </p:txBody>
      </p:sp>
      <p:sp>
        <p:nvSpPr>
          <p:cNvPr name="TextBox 8" id="8"/>
          <p:cNvSpPr txBox="true"/>
          <p:nvPr/>
        </p:nvSpPr>
        <p:spPr>
          <a:xfrm rot="0">
            <a:off x="961282" y="2343302"/>
            <a:ext cx="16365436" cy="814092"/>
          </a:xfrm>
          <a:prstGeom prst="rect">
            <a:avLst/>
          </a:prstGeom>
        </p:spPr>
        <p:txBody>
          <a:bodyPr anchor="t" rtlCol="false" tIns="0" lIns="0" bIns="0" rIns="0">
            <a:spAutoFit/>
          </a:bodyPr>
          <a:lstStyle/>
          <a:p>
            <a:pPr algn="l">
              <a:lnSpc>
                <a:spcPts val="2829"/>
              </a:lnSpc>
            </a:pPr>
            <a:r>
              <a:rPr lang="en-US" sz="1800">
                <a:solidFill>
                  <a:srgbClr val="49495A"/>
                </a:solidFill>
                <a:latin typeface="Open Sans"/>
                <a:ea typeface="Open Sans"/>
                <a:cs typeface="Open Sans"/>
                <a:sym typeface="Open Sans"/>
              </a:rPr>
              <a:t>Across defect types, cost distributions, inspection methods, and severity levels, several consistent patterns emerge from the analysis. These findings provide a clear roadmap for quality improvement initiatives and resource allocation decisions on the manufacturing floor.</a:t>
            </a:r>
          </a:p>
        </p:txBody>
      </p:sp>
      <p:sp>
        <p:nvSpPr>
          <p:cNvPr name="Freeform 9" id="9" descr="preencoded.png"/>
          <p:cNvSpPr/>
          <p:nvPr/>
        </p:nvSpPr>
        <p:spPr>
          <a:xfrm flipH="false" flipV="false" rot="0">
            <a:off x="961282" y="3419180"/>
            <a:ext cx="8066332" cy="2901553"/>
          </a:xfrm>
          <a:custGeom>
            <a:avLst/>
            <a:gdLst/>
            <a:ahLst/>
            <a:cxnLst/>
            <a:rect r="r" b="b" t="t" l="l"/>
            <a:pathLst>
              <a:path h="2901553" w="8066332">
                <a:moveTo>
                  <a:pt x="0" y="0"/>
                </a:moveTo>
                <a:lnTo>
                  <a:pt x="8066332" y="0"/>
                </a:lnTo>
                <a:lnTo>
                  <a:pt x="8066332" y="2901553"/>
                </a:lnTo>
                <a:lnTo>
                  <a:pt x="0" y="2901553"/>
                </a:lnTo>
                <a:lnTo>
                  <a:pt x="0" y="0"/>
                </a:lnTo>
                <a:close/>
              </a:path>
            </a:pathLst>
          </a:custGeom>
          <a:blipFill>
            <a:blip r:embed="rId2">
              <a:extLst>
                <a:ext uri="{96DAC541-7B7A-43D3-8B79-37D633B846F1}">
                  <asvg:svgBlip xmlns:asvg="http://schemas.microsoft.com/office/drawing/2016/SVG/main" r:embed="rId3"/>
                </a:ext>
              </a:extLst>
            </a:blip>
            <a:stretch>
              <a:fillRect l="0" t="-53" r="0" b="-53"/>
            </a:stretch>
          </a:blipFill>
        </p:spPr>
      </p:sp>
      <p:grpSp>
        <p:nvGrpSpPr>
          <p:cNvPr name="Group 10" id="10"/>
          <p:cNvGrpSpPr/>
          <p:nvPr/>
        </p:nvGrpSpPr>
        <p:grpSpPr>
          <a:xfrm rot="0">
            <a:off x="4814145" y="3582886"/>
            <a:ext cx="360464" cy="450504"/>
            <a:chOff x="0" y="0"/>
            <a:chExt cx="480619" cy="600672"/>
          </a:xfrm>
        </p:grpSpPr>
        <p:sp>
          <p:nvSpPr>
            <p:cNvPr name="Freeform 11" id="11"/>
            <p:cNvSpPr/>
            <p:nvPr/>
          </p:nvSpPr>
          <p:spPr>
            <a:xfrm flipH="false" flipV="false" rot="0">
              <a:off x="0" y="0"/>
              <a:ext cx="480616" cy="600669"/>
            </a:xfrm>
            <a:custGeom>
              <a:avLst/>
              <a:gdLst/>
              <a:ahLst/>
              <a:cxnLst/>
              <a:rect r="r" b="b" t="t" l="l"/>
              <a:pathLst>
                <a:path h="600669" w="480616">
                  <a:moveTo>
                    <a:pt x="0" y="0"/>
                  </a:moveTo>
                  <a:lnTo>
                    <a:pt x="480616" y="0"/>
                  </a:lnTo>
                  <a:lnTo>
                    <a:pt x="480616" y="600669"/>
                  </a:lnTo>
                  <a:lnTo>
                    <a:pt x="0" y="600669"/>
                  </a:lnTo>
                  <a:close/>
                </a:path>
              </a:pathLst>
            </a:custGeom>
            <a:blipFill>
              <a:blip r:embed="rId4">
                <a:alphaModFix amt="0"/>
              </a:blip>
              <a:stretch>
                <a:fillRect l="-110352" t="0" r="-110353" b="0"/>
              </a:stretch>
            </a:blipFill>
          </p:spPr>
        </p:sp>
        <p:sp>
          <p:nvSpPr>
            <p:cNvPr name="TextBox 12" id="12"/>
            <p:cNvSpPr txBox="true"/>
            <p:nvPr/>
          </p:nvSpPr>
          <p:spPr>
            <a:xfrm>
              <a:off x="0" y="0"/>
              <a:ext cx="480619" cy="600672"/>
            </a:xfrm>
            <a:prstGeom prst="rect">
              <a:avLst/>
            </a:prstGeom>
          </p:spPr>
          <p:txBody>
            <a:bodyPr anchor="ctr" rtlCol="false" tIns="0" lIns="0" bIns="0" rIns="0"/>
            <a:lstStyle/>
            <a:p>
              <a:pPr algn="ctr">
                <a:lnSpc>
                  <a:spcPts val="3359"/>
                </a:lnSpc>
              </a:pPr>
              <a:r>
                <a:rPr lang="en-US" sz="2799">
                  <a:solidFill>
                    <a:srgbClr val="49495A"/>
                  </a:solidFill>
                  <a:latin typeface="Libre Baskerville"/>
                  <a:ea typeface="Libre Baskerville"/>
                  <a:cs typeface="Libre Baskerville"/>
                  <a:sym typeface="Libre Baskerville"/>
                </a:rPr>
                <a:t>1</a:t>
              </a:r>
            </a:p>
          </p:txBody>
        </p:sp>
      </p:grpSp>
      <p:sp>
        <p:nvSpPr>
          <p:cNvPr name="TextBox 13" id="13"/>
          <p:cNvSpPr txBox="true"/>
          <p:nvPr/>
        </p:nvSpPr>
        <p:spPr>
          <a:xfrm rot="0">
            <a:off x="1230068" y="4401445"/>
            <a:ext cx="4478388" cy="375495"/>
          </a:xfrm>
          <a:prstGeom prst="rect">
            <a:avLst/>
          </a:prstGeom>
        </p:spPr>
        <p:txBody>
          <a:bodyPr anchor="t" rtlCol="false" tIns="0" lIns="0" bIns="0" rIns="0">
            <a:spAutoFit/>
          </a:bodyPr>
          <a:lstStyle/>
          <a:p>
            <a:pPr algn="l">
              <a:lnSpc>
                <a:spcPts val="2870"/>
              </a:lnSpc>
            </a:pPr>
            <a:r>
              <a:rPr lang="en-US" sz="2300">
                <a:solidFill>
                  <a:srgbClr val="49495A"/>
                </a:solidFill>
                <a:latin typeface="Libre Baskerville"/>
                <a:ea typeface="Libre Baskerville"/>
                <a:cs typeface="Libre Baskerville"/>
                <a:sym typeface="Libre Baskerville"/>
              </a:rPr>
              <a:t>Structural Defects Drive Cost</a:t>
            </a:r>
          </a:p>
        </p:txBody>
      </p:sp>
      <p:sp>
        <p:nvSpPr>
          <p:cNvPr name="TextBox 14" id="14"/>
          <p:cNvSpPr txBox="true"/>
          <p:nvPr/>
        </p:nvSpPr>
        <p:spPr>
          <a:xfrm rot="0">
            <a:off x="1230068" y="4859388"/>
            <a:ext cx="7528770" cy="1192559"/>
          </a:xfrm>
          <a:prstGeom prst="rect">
            <a:avLst/>
          </a:prstGeom>
        </p:spPr>
        <p:txBody>
          <a:bodyPr anchor="t" rtlCol="false" tIns="0" lIns="0" bIns="0" rIns="0">
            <a:spAutoFit/>
          </a:bodyPr>
          <a:lstStyle/>
          <a:p>
            <a:pPr algn="l">
              <a:lnSpc>
                <a:spcPts val="2829"/>
              </a:lnSpc>
            </a:pPr>
            <a:r>
              <a:rPr lang="en-US" sz="1800">
                <a:solidFill>
                  <a:srgbClr val="49495A"/>
                </a:solidFill>
                <a:latin typeface="Open Sans"/>
                <a:ea typeface="Open Sans"/>
                <a:cs typeface="Open Sans"/>
                <a:sym typeface="Open Sans"/>
              </a:rPr>
              <a:t>Despite lower frequency than cosmetic defects, structural failures account for the largest share of total repair expenditure — making them the highest-leverage target for prevention programs.</a:t>
            </a:r>
          </a:p>
        </p:txBody>
      </p:sp>
      <p:sp>
        <p:nvSpPr>
          <p:cNvPr name="Freeform 15" id="15" descr="preencoded.png"/>
          <p:cNvSpPr/>
          <p:nvPr/>
        </p:nvSpPr>
        <p:spPr>
          <a:xfrm flipH="false" flipV="false" rot="0">
            <a:off x="9260386" y="3419180"/>
            <a:ext cx="8066332" cy="2901553"/>
          </a:xfrm>
          <a:custGeom>
            <a:avLst/>
            <a:gdLst/>
            <a:ahLst/>
            <a:cxnLst/>
            <a:rect r="r" b="b" t="t" l="l"/>
            <a:pathLst>
              <a:path h="2901553" w="8066332">
                <a:moveTo>
                  <a:pt x="0" y="0"/>
                </a:moveTo>
                <a:lnTo>
                  <a:pt x="8066332" y="0"/>
                </a:lnTo>
                <a:lnTo>
                  <a:pt x="8066332" y="2901553"/>
                </a:lnTo>
                <a:lnTo>
                  <a:pt x="0" y="2901553"/>
                </a:lnTo>
                <a:lnTo>
                  <a:pt x="0" y="0"/>
                </a:lnTo>
                <a:close/>
              </a:path>
            </a:pathLst>
          </a:custGeom>
          <a:blipFill>
            <a:blip r:embed="rId2">
              <a:extLst>
                <a:ext uri="{96DAC541-7B7A-43D3-8B79-37D633B846F1}">
                  <asvg:svgBlip xmlns:asvg="http://schemas.microsoft.com/office/drawing/2016/SVG/main" r:embed="rId3"/>
                </a:ext>
              </a:extLst>
            </a:blip>
            <a:stretch>
              <a:fillRect l="0" t="-53" r="0" b="-53"/>
            </a:stretch>
          </a:blipFill>
        </p:spPr>
      </p:sp>
      <p:grpSp>
        <p:nvGrpSpPr>
          <p:cNvPr name="Group 16" id="16"/>
          <p:cNvGrpSpPr/>
          <p:nvPr/>
        </p:nvGrpSpPr>
        <p:grpSpPr>
          <a:xfrm rot="0">
            <a:off x="13113248" y="3582886"/>
            <a:ext cx="360464" cy="450504"/>
            <a:chOff x="0" y="0"/>
            <a:chExt cx="480619" cy="600672"/>
          </a:xfrm>
        </p:grpSpPr>
        <p:sp>
          <p:nvSpPr>
            <p:cNvPr name="Freeform 17" id="17"/>
            <p:cNvSpPr/>
            <p:nvPr/>
          </p:nvSpPr>
          <p:spPr>
            <a:xfrm flipH="false" flipV="false" rot="0">
              <a:off x="0" y="0"/>
              <a:ext cx="480616" cy="600669"/>
            </a:xfrm>
            <a:custGeom>
              <a:avLst/>
              <a:gdLst/>
              <a:ahLst/>
              <a:cxnLst/>
              <a:rect r="r" b="b" t="t" l="l"/>
              <a:pathLst>
                <a:path h="600669" w="480616">
                  <a:moveTo>
                    <a:pt x="0" y="0"/>
                  </a:moveTo>
                  <a:lnTo>
                    <a:pt x="480616" y="0"/>
                  </a:lnTo>
                  <a:lnTo>
                    <a:pt x="480616" y="600669"/>
                  </a:lnTo>
                  <a:lnTo>
                    <a:pt x="0" y="600669"/>
                  </a:lnTo>
                  <a:close/>
                </a:path>
              </a:pathLst>
            </a:custGeom>
            <a:blipFill>
              <a:blip r:embed="rId4">
                <a:alphaModFix amt="0"/>
              </a:blip>
              <a:stretch>
                <a:fillRect l="-110352" t="0" r="-110353" b="0"/>
              </a:stretch>
            </a:blipFill>
          </p:spPr>
        </p:sp>
        <p:sp>
          <p:nvSpPr>
            <p:cNvPr name="TextBox 18" id="18"/>
            <p:cNvSpPr txBox="true"/>
            <p:nvPr/>
          </p:nvSpPr>
          <p:spPr>
            <a:xfrm>
              <a:off x="0" y="0"/>
              <a:ext cx="480619" cy="600672"/>
            </a:xfrm>
            <a:prstGeom prst="rect">
              <a:avLst/>
            </a:prstGeom>
          </p:spPr>
          <p:txBody>
            <a:bodyPr anchor="ctr" rtlCol="false" tIns="0" lIns="0" bIns="0" rIns="0"/>
            <a:lstStyle/>
            <a:p>
              <a:pPr algn="ctr">
                <a:lnSpc>
                  <a:spcPts val="3359"/>
                </a:lnSpc>
              </a:pPr>
              <a:r>
                <a:rPr lang="en-US" sz="2799">
                  <a:solidFill>
                    <a:srgbClr val="49495A"/>
                  </a:solidFill>
                  <a:latin typeface="Libre Baskerville"/>
                  <a:ea typeface="Libre Baskerville"/>
                  <a:cs typeface="Libre Baskerville"/>
                  <a:sym typeface="Libre Baskerville"/>
                </a:rPr>
                <a:t>2</a:t>
              </a:r>
            </a:p>
          </p:txBody>
        </p:sp>
      </p:grpSp>
      <p:sp>
        <p:nvSpPr>
          <p:cNvPr name="TextBox 19" id="19"/>
          <p:cNvSpPr txBox="true"/>
          <p:nvPr/>
        </p:nvSpPr>
        <p:spPr>
          <a:xfrm rot="0">
            <a:off x="9529172" y="4401445"/>
            <a:ext cx="4615310" cy="375495"/>
          </a:xfrm>
          <a:prstGeom prst="rect">
            <a:avLst/>
          </a:prstGeom>
        </p:spPr>
        <p:txBody>
          <a:bodyPr anchor="t" rtlCol="false" tIns="0" lIns="0" bIns="0" rIns="0">
            <a:spAutoFit/>
          </a:bodyPr>
          <a:lstStyle/>
          <a:p>
            <a:pPr algn="l">
              <a:lnSpc>
                <a:spcPts val="2870"/>
              </a:lnSpc>
            </a:pPr>
            <a:r>
              <a:rPr lang="en-US" sz="2300">
                <a:solidFill>
                  <a:srgbClr val="49495A"/>
                </a:solidFill>
                <a:latin typeface="Libre Baskerville"/>
                <a:ea typeface="Libre Baskerville"/>
                <a:cs typeface="Libre Baskerville"/>
                <a:sym typeface="Libre Baskerville"/>
              </a:rPr>
              <a:t>Inspection Method Gaps Exist</a:t>
            </a:r>
          </a:p>
        </p:txBody>
      </p:sp>
      <p:sp>
        <p:nvSpPr>
          <p:cNvPr name="TextBox 20" id="20"/>
          <p:cNvSpPr txBox="true"/>
          <p:nvPr/>
        </p:nvSpPr>
        <p:spPr>
          <a:xfrm rot="0">
            <a:off x="9529172" y="4859388"/>
            <a:ext cx="7528770" cy="1192559"/>
          </a:xfrm>
          <a:prstGeom prst="rect">
            <a:avLst/>
          </a:prstGeom>
        </p:spPr>
        <p:txBody>
          <a:bodyPr anchor="t" rtlCol="false" tIns="0" lIns="0" bIns="0" rIns="0">
            <a:spAutoFit/>
          </a:bodyPr>
          <a:lstStyle/>
          <a:p>
            <a:pPr algn="l">
              <a:lnSpc>
                <a:spcPts val="2829"/>
              </a:lnSpc>
            </a:pPr>
            <a:r>
              <a:rPr lang="en-US" sz="1800">
                <a:solidFill>
                  <a:srgbClr val="49495A"/>
                </a:solidFill>
                <a:latin typeface="Open Sans"/>
                <a:ea typeface="Open Sans"/>
                <a:cs typeface="Open Sans"/>
                <a:sym typeface="Open Sans"/>
              </a:rPr>
              <a:t>Certain defect types show low detection rates under current inspection protocols, indicating opportunities to augment visual checks with automated or functional testing methods.</a:t>
            </a:r>
          </a:p>
        </p:txBody>
      </p:sp>
      <p:sp>
        <p:nvSpPr>
          <p:cNvPr name="Freeform 21" id="21" descr="preencoded.png"/>
          <p:cNvSpPr/>
          <p:nvPr/>
        </p:nvSpPr>
        <p:spPr>
          <a:xfrm flipH="false" flipV="false" rot="0">
            <a:off x="961282" y="6553495"/>
            <a:ext cx="8066332" cy="2901553"/>
          </a:xfrm>
          <a:custGeom>
            <a:avLst/>
            <a:gdLst/>
            <a:ahLst/>
            <a:cxnLst/>
            <a:rect r="r" b="b" t="t" l="l"/>
            <a:pathLst>
              <a:path h="2901553" w="8066332">
                <a:moveTo>
                  <a:pt x="0" y="0"/>
                </a:moveTo>
                <a:lnTo>
                  <a:pt x="8066332" y="0"/>
                </a:lnTo>
                <a:lnTo>
                  <a:pt x="8066332" y="2901553"/>
                </a:lnTo>
                <a:lnTo>
                  <a:pt x="0" y="2901553"/>
                </a:lnTo>
                <a:lnTo>
                  <a:pt x="0" y="0"/>
                </a:lnTo>
                <a:close/>
              </a:path>
            </a:pathLst>
          </a:custGeom>
          <a:blipFill>
            <a:blip r:embed="rId2">
              <a:extLst>
                <a:ext uri="{96DAC541-7B7A-43D3-8B79-37D633B846F1}">
                  <asvg:svgBlip xmlns:asvg="http://schemas.microsoft.com/office/drawing/2016/SVG/main" r:embed="rId3"/>
                </a:ext>
              </a:extLst>
            </a:blip>
            <a:stretch>
              <a:fillRect l="0" t="-53" r="0" b="-53"/>
            </a:stretch>
          </a:blipFill>
        </p:spPr>
      </p:sp>
      <p:grpSp>
        <p:nvGrpSpPr>
          <p:cNvPr name="Group 22" id="22"/>
          <p:cNvGrpSpPr/>
          <p:nvPr/>
        </p:nvGrpSpPr>
        <p:grpSpPr>
          <a:xfrm rot="0">
            <a:off x="4814145" y="6717211"/>
            <a:ext cx="360464" cy="450504"/>
            <a:chOff x="0" y="0"/>
            <a:chExt cx="480619" cy="600672"/>
          </a:xfrm>
        </p:grpSpPr>
        <p:sp>
          <p:nvSpPr>
            <p:cNvPr name="Freeform 23" id="23"/>
            <p:cNvSpPr/>
            <p:nvPr/>
          </p:nvSpPr>
          <p:spPr>
            <a:xfrm flipH="false" flipV="false" rot="0">
              <a:off x="0" y="0"/>
              <a:ext cx="480616" cy="600669"/>
            </a:xfrm>
            <a:custGeom>
              <a:avLst/>
              <a:gdLst/>
              <a:ahLst/>
              <a:cxnLst/>
              <a:rect r="r" b="b" t="t" l="l"/>
              <a:pathLst>
                <a:path h="600669" w="480616">
                  <a:moveTo>
                    <a:pt x="0" y="0"/>
                  </a:moveTo>
                  <a:lnTo>
                    <a:pt x="480616" y="0"/>
                  </a:lnTo>
                  <a:lnTo>
                    <a:pt x="480616" y="600669"/>
                  </a:lnTo>
                  <a:lnTo>
                    <a:pt x="0" y="600669"/>
                  </a:lnTo>
                  <a:close/>
                </a:path>
              </a:pathLst>
            </a:custGeom>
            <a:blipFill>
              <a:blip r:embed="rId4">
                <a:alphaModFix amt="0"/>
              </a:blip>
              <a:stretch>
                <a:fillRect l="-110352" t="0" r="-110353" b="0"/>
              </a:stretch>
            </a:blipFill>
          </p:spPr>
        </p:sp>
        <p:sp>
          <p:nvSpPr>
            <p:cNvPr name="TextBox 24" id="24"/>
            <p:cNvSpPr txBox="true"/>
            <p:nvPr/>
          </p:nvSpPr>
          <p:spPr>
            <a:xfrm>
              <a:off x="0" y="0"/>
              <a:ext cx="480619" cy="600672"/>
            </a:xfrm>
            <a:prstGeom prst="rect">
              <a:avLst/>
            </a:prstGeom>
          </p:spPr>
          <p:txBody>
            <a:bodyPr anchor="ctr" rtlCol="false" tIns="0" lIns="0" bIns="0" rIns="0"/>
            <a:lstStyle/>
            <a:p>
              <a:pPr algn="ctr">
                <a:lnSpc>
                  <a:spcPts val="3359"/>
                </a:lnSpc>
              </a:pPr>
              <a:r>
                <a:rPr lang="en-US" sz="2799">
                  <a:solidFill>
                    <a:srgbClr val="49495A"/>
                  </a:solidFill>
                  <a:latin typeface="Libre Baskerville"/>
                  <a:ea typeface="Libre Baskerville"/>
                  <a:cs typeface="Libre Baskerville"/>
                  <a:sym typeface="Libre Baskerville"/>
                </a:rPr>
                <a:t>3</a:t>
              </a:r>
            </a:p>
          </p:txBody>
        </p:sp>
      </p:grpSp>
      <p:sp>
        <p:nvSpPr>
          <p:cNvPr name="TextBox 25" id="25"/>
          <p:cNvSpPr txBox="true"/>
          <p:nvPr/>
        </p:nvSpPr>
        <p:spPr>
          <a:xfrm rot="0">
            <a:off x="1230068" y="7535761"/>
            <a:ext cx="4969373" cy="375495"/>
          </a:xfrm>
          <a:prstGeom prst="rect">
            <a:avLst/>
          </a:prstGeom>
        </p:spPr>
        <p:txBody>
          <a:bodyPr anchor="t" rtlCol="false" tIns="0" lIns="0" bIns="0" rIns="0">
            <a:spAutoFit/>
          </a:bodyPr>
          <a:lstStyle/>
          <a:p>
            <a:pPr algn="l">
              <a:lnSpc>
                <a:spcPts val="2870"/>
              </a:lnSpc>
            </a:pPr>
            <a:r>
              <a:rPr lang="en-US" sz="2300">
                <a:solidFill>
                  <a:srgbClr val="49495A"/>
                </a:solidFill>
                <a:latin typeface="Libre Baskerville"/>
                <a:ea typeface="Libre Baskerville"/>
                <a:cs typeface="Libre Baskerville"/>
                <a:sym typeface="Libre Baskerville"/>
              </a:rPr>
              <a:t>Product-Level Clustering Is Real</a:t>
            </a:r>
          </a:p>
        </p:txBody>
      </p:sp>
      <p:sp>
        <p:nvSpPr>
          <p:cNvPr name="TextBox 26" id="26"/>
          <p:cNvSpPr txBox="true"/>
          <p:nvPr/>
        </p:nvSpPr>
        <p:spPr>
          <a:xfrm rot="0">
            <a:off x="1230068" y="7993704"/>
            <a:ext cx="7528770" cy="1192559"/>
          </a:xfrm>
          <a:prstGeom prst="rect">
            <a:avLst/>
          </a:prstGeom>
        </p:spPr>
        <p:txBody>
          <a:bodyPr anchor="t" rtlCol="false" tIns="0" lIns="0" bIns="0" rIns="0">
            <a:spAutoFit/>
          </a:bodyPr>
          <a:lstStyle/>
          <a:p>
            <a:pPr algn="l">
              <a:lnSpc>
                <a:spcPts val="2829"/>
              </a:lnSpc>
            </a:pPr>
            <a:r>
              <a:rPr lang="en-US" sz="1800">
                <a:solidFill>
                  <a:srgbClr val="49495A"/>
                </a:solidFill>
                <a:latin typeface="Open Sans"/>
                <a:ea typeface="Open Sans"/>
                <a:cs typeface="Open Sans"/>
                <a:sym typeface="Open Sans"/>
              </a:rPr>
              <a:t>Specific Product IDs consistently correlate with higher severity ratings, suggesting design or supplier issues that require cross-functional resolution beyond the production team.</a:t>
            </a:r>
          </a:p>
        </p:txBody>
      </p:sp>
      <p:sp>
        <p:nvSpPr>
          <p:cNvPr name="Freeform 27" id="27" descr="preencoded.png"/>
          <p:cNvSpPr/>
          <p:nvPr/>
        </p:nvSpPr>
        <p:spPr>
          <a:xfrm flipH="false" flipV="false" rot="0">
            <a:off x="9260386" y="6553495"/>
            <a:ext cx="8066332" cy="2901553"/>
          </a:xfrm>
          <a:custGeom>
            <a:avLst/>
            <a:gdLst/>
            <a:ahLst/>
            <a:cxnLst/>
            <a:rect r="r" b="b" t="t" l="l"/>
            <a:pathLst>
              <a:path h="2901553" w="8066332">
                <a:moveTo>
                  <a:pt x="0" y="0"/>
                </a:moveTo>
                <a:lnTo>
                  <a:pt x="8066332" y="0"/>
                </a:lnTo>
                <a:lnTo>
                  <a:pt x="8066332" y="2901553"/>
                </a:lnTo>
                <a:lnTo>
                  <a:pt x="0" y="2901553"/>
                </a:lnTo>
                <a:lnTo>
                  <a:pt x="0" y="0"/>
                </a:lnTo>
                <a:close/>
              </a:path>
            </a:pathLst>
          </a:custGeom>
          <a:blipFill>
            <a:blip r:embed="rId2">
              <a:extLst>
                <a:ext uri="{96DAC541-7B7A-43D3-8B79-37D633B846F1}">
                  <asvg:svgBlip xmlns:asvg="http://schemas.microsoft.com/office/drawing/2016/SVG/main" r:embed="rId3"/>
                </a:ext>
              </a:extLst>
            </a:blip>
            <a:stretch>
              <a:fillRect l="0" t="-53" r="0" b="-53"/>
            </a:stretch>
          </a:blipFill>
        </p:spPr>
      </p:sp>
      <p:grpSp>
        <p:nvGrpSpPr>
          <p:cNvPr name="Group 28" id="28"/>
          <p:cNvGrpSpPr/>
          <p:nvPr/>
        </p:nvGrpSpPr>
        <p:grpSpPr>
          <a:xfrm rot="0">
            <a:off x="13113248" y="6717211"/>
            <a:ext cx="360464" cy="450504"/>
            <a:chOff x="0" y="0"/>
            <a:chExt cx="480619" cy="600672"/>
          </a:xfrm>
        </p:grpSpPr>
        <p:sp>
          <p:nvSpPr>
            <p:cNvPr name="Freeform 29" id="29"/>
            <p:cNvSpPr/>
            <p:nvPr/>
          </p:nvSpPr>
          <p:spPr>
            <a:xfrm flipH="false" flipV="false" rot="0">
              <a:off x="0" y="0"/>
              <a:ext cx="480616" cy="600669"/>
            </a:xfrm>
            <a:custGeom>
              <a:avLst/>
              <a:gdLst/>
              <a:ahLst/>
              <a:cxnLst/>
              <a:rect r="r" b="b" t="t" l="l"/>
              <a:pathLst>
                <a:path h="600669" w="480616">
                  <a:moveTo>
                    <a:pt x="0" y="0"/>
                  </a:moveTo>
                  <a:lnTo>
                    <a:pt x="480616" y="0"/>
                  </a:lnTo>
                  <a:lnTo>
                    <a:pt x="480616" y="600669"/>
                  </a:lnTo>
                  <a:lnTo>
                    <a:pt x="0" y="600669"/>
                  </a:lnTo>
                  <a:close/>
                </a:path>
              </a:pathLst>
            </a:custGeom>
            <a:blipFill>
              <a:blip r:embed="rId4">
                <a:alphaModFix amt="0"/>
              </a:blip>
              <a:stretch>
                <a:fillRect l="-110352" t="0" r="-110353" b="0"/>
              </a:stretch>
            </a:blipFill>
          </p:spPr>
        </p:sp>
        <p:sp>
          <p:nvSpPr>
            <p:cNvPr name="TextBox 30" id="30"/>
            <p:cNvSpPr txBox="true"/>
            <p:nvPr/>
          </p:nvSpPr>
          <p:spPr>
            <a:xfrm>
              <a:off x="0" y="0"/>
              <a:ext cx="480619" cy="600672"/>
            </a:xfrm>
            <a:prstGeom prst="rect">
              <a:avLst/>
            </a:prstGeom>
          </p:spPr>
          <p:txBody>
            <a:bodyPr anchor="ctr" rtlCol="false" tIns="0" lIns="0" bIns="0" rIns="0"/>
            <a:lstStyle/>
            <a:p>
              <a:pPr algn="ctr">
                <a:lnSpc>
                  <a:spcPts val="3359"/>
                </a:lnSpc>
              </a:pPr>
              <a:r>
                <a:rPr lang="en-US" sz="2799">
                  <a:solidFill>
                    <a:srgbClr val="49495A"/>
                  </a:solidFill>
                  <a:latin typeface="Libre Baskerville"/>
                  <a:ea typeface="Libre Baskerville"/>
                  <a:cs typeface="Libre Baskerville"/>
                  <a:sym typeface="Libre Baskerville"/>
                </a:rPr>
                <a:t>4</a:t>
              </a:r>
            </a:p>
          </p:txBody>
        </p:sp>
      </p:grpSp>
      <p:sp>
        <p:nvSpPr>
          <p:cNvPr name="TextBox 31" id="31"/>
          <p:cNvSpPr txBox="true"/>
          <p:nvPr/>
        </p:nvSpPr>
        <p:spPr>
          <a:xfrm rot="0">
            <a:off x="9529172" y="7535761"/>
            <a:ext cx="4715323" cy="375495"/>
          </a:xfrm>
          <a:prstGeom prst="rect">
            <a:avLst/>
          </a:prstGeom>
        </p:spPr>
        <p:txBody>
          <a:bodyPr anchor="t" rtlCol="false" tIns="0" lIns="0" bIns="0" rIns="0">
            <a:spAutoFit/>
          </a:bodyPr>
          <a:lstStyle/>
          <a:p>
            <a:pPr algn="l">
              <a:lnSpc>
                <a:spcPts val="2870"/>
              </a:lnSpc>
            </a:pPr>
            <a:r>
              <a:rPr lang="en-US" sz="2300">
                <a:solidFill>
                  <a:srgbClr val="49495A"/>
                </a:solidFill>
                <a:latin typeface="Libre Baskerville"/>
                <a:ea typeface="Libre Baskerville"/>
                <a:cs typeface="Libre Baskerville"/>
                <a:sym typeface="Libre Baskerville"/>
              </a:rPr>
              <a:t>Severity Skews Toward Critical</a:t>
            </a:r>
          </a:p>
        </p:txBody>
      </p:sp>
      <p:sp>
        <p:nvSpPr>
          <p:cNvPr name="TextBox 32" id="32"/>
          <p:cNvSpPr txBox="true"/>
          <p:nvPr/>
        </p:nvSpPr>
        <p:spPr>
          <a:xfrm rot="0">
            <a:off x="9529172" y="7993704"/>
            <a:ext cx="7528770" cy="1192559"/>
          </a:xfrm>
          <a:prstGeom prst="rect">
            <a:avLst/>
          </a:prstGeom>
        </p:spPr>
        <p:txBody>
          <a:bodyPr anchor="t" rtlCol="false" tIns="0" lIns="0" bIns="0" rIns="0">
            <a:spAutoFit/>
          </a:bodyPr>
          <a:lstStyle/>
          <a:p>
            <a:pPr algn="l">
              <a:lnSpc>
                <a:spcPts val="2829"/>
              </a:lnSpc>
            </a:pPr>
            <a:r>
              <a:rPr lang="en-US" sz="1800">
                <a:solidFill>
                  <a:srgbClr val="49495A"/>
                </a:solidFill>
                <a:latin typeface="Open Sans"/>
                <a:ea typeface="Open Sans"/>
                <a:cs typeface="Open Sans"/>
                <a:sym typeface="Open Sans"/>
              </a:rPr>
              <a:t>A meaningful proportion of defects fall into the High and Critical severity bands, underscoring the importance of early-stage detection and preventive quality controls.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2724598" y="512121"/>
            <a:ext cx="2949473" cy="254194"/>
          </a:xfrm>
          <a:prstGeom prst="rect">
            <a:avLst/>
          </a:prstGeom>
        </p:spPr>
        <p:txBody>
          <a:bodyPr anchor="t" rtlCol="false" tIns="0" lIns="0" bIns="0" rIns="0">
            <a:spAutoFit/>
          </a:bodyPr>
          <a:lstStyle/>
          <a:p>
            <a:pPr algn="l">
              <a:lnSpc>
                <a:spcPts val="1996"/>
              </a:lnSpc>
            </a:pPr>
            <a:r>
              <a:rPr lang="en-US" sz="1600">
                <a:solidFill>
                  <a:srgbClr val="403CCF"/>
                </a:solidFill>
                <a:latin typeface="Libre Baskerville"/>
                <a:ea typeface="Libre Baskerville"/>
                <a:cs typeface="Libre Baskerville"/>
                <a:sym typeface="Libre Baskerville"/>
              </a:rPr>
              <a:t>Getting Started</a:t>
            </a:r>
          </a:p>
        </p:txBody>
      </p:sp>
      <p:sp>
        <p:nvSpPr>
          <p:cNvPr name="TextBox 7" id="7"/>
          <p:cNvSpPr txBox="true"/>
          <p:nvPr/>
        </p:nvSpPr>
        <p:spPr>
          <a:xfrm rot="0">
            <a:off x="2724598" y="799509"/>
            <a:ext cx="6246762" cy="518217"/>
          </a:xfrm>
          <a:prstGeom prst="rect">
            <a:avLst/>
          </a:prstGeom>
        </p:spPr>
        <p:txBody>
          <a:bodyPr anchor="t" rtlCol="false" tIns="0" lIns="0" bIns="0" rIns="0">
            <a:spAutoFit/>
          </a:bodyPr>
          <a:lstStyle/>
          <a:p>
            <a:pPr algn="l">
              <a:lnSpc>
                <a:spcPts val="3993"/>
              </a:lnSpc>
            </a:pPr>
            <a:r>
              <a:rPr lang="en-US" sz="3200">
                <a:solidFill>
                  <a:srgbClr val="403CCF"/>
                </a:solidFill>
                <a:latin typeface="Libre Baskerville"/>
                <a:ea typeface="Libre Baskerville"/>
                <a:cs typeface="Libre Baskerville"/>
                <a:sym typeface="Libre Baskerville"/>
              </a:rPr>
              <a:t>How to Run This Analysis</a:t>
            </a:r>
          </a:p>
        </p:txBody>
      </p:sp>
      <p:sp>
        <p:nvSpPr>
          <p:cNvPr name="TextBox 8" id="8"/>
          <p:cNvSpPr txBox="true"/>
          <p:nvPr/>
        </p:nvSpPr>
        <p:spPr>
          <a:xfrm rot="0">
            <a:off x="2724598" y="1468336"/>
            <a:ext cx="12838805" cy="440827"/>
          </a:xfrm>
          <a:prstGeom prst="rect">
            <a:avLst/>
          </a:prstGeom>
        </p:spPr>
        <p:txBody>
          <a:bodyPr anchor="t" rtlCol="false" tIns="0" lIns="0" bIns="0" rIns="0">
            <a:spAutoFit/>
          </a:bodyPr>
          <a:lstStyle/>
          <a:p>
            <a:pPr algn="l">
              <a:lnSpc>
                <a:spcPts val="1584"/>
              </a:lnSpc>
            </a:pPr>
            <a:r>
              <a:rPr lang="en-US" sz="1200">
                <a:solidFill>
                  <a:srgbClr val="49495A"/>
                </a:solidFill>
                <a:latin typeface="Open Sans"/>
                <a:ea typeface="Open Sans"/>
                <a:cs typeface="Open Sans"/>
                <a:sym typeface="Open Sans"/>
              </a:rPr>
              <a:t>This project is structured as a Jupyter Notebook, making it easy to reproduce, extend, and share. Follow these steps to get the analysis running in your own environment — whether locally or in the cloud.</a:t>
            </a:r>
          </a:p>
        </p:txBody>
      </p:sp>
      <p:grpSp>
        <p:nvGrpSpPr>
          <p:cNvPr name="Group 9" id="9"/>
          <p:cNvGrpSpPr/>
          <p:nvPr/>
        </p:nvGrpSpPr>
        <p:grpSpPr>
          <a:xfrm rot="0">
            <a:off x="2724598" y="2029273"/>
            <a:ext cx="12838805" cy="5631809"/>
            <a:chOff x="0" y="0"/>
            <a:chExt cx="17118406" cy="7509078"/>
          </a:xfrm>
        </p:grpSpPr>
        <p:sp>
          <p:nvSpPr>
            <p:cNvPr name="Freeform 10" id="10" descr="preencoded.png"/>
            <p:cNvSpPr/>
            <p:nvPr/>
          </p:nvSpPr>
          <p:spPr>
            <a:xfrm flipH="false" flipV="false" rot="0">
              <a:off x="0" y="0"/>
              <a:ext cx="17118457" cy="7509129"/>
            </a:xfrm>
            <a:custGeom>
              <a:avLst/>
              <a:gdLst/>
              <a:ahLst/>
              <a:cxnLst/>
              <a:rect r="r" b="b" t="t" l="l"/>
              <a:pathLst>
                <a:path h="7509129" w="17118457">
                  <a:moveTo>
                    <a:pt x="0" y="0"/>
                  </a:moveTo>
                  <a:lnTo>
                    <a:pt x="17118457" y="0"/>
                  </a:lnTo>
                  <a:lnTo>
                    <a:pt x="17118457" y="7509129"/>
                  </a:lnTo>
                  <a:lnTo>
                    <a:pt x="0" y="7509129"/>
                  </a:lnTo>
                  <a:lnTo>
                    <a:pt x="0" y="0"/>
                  </a:lnTo>
                  <a:close/>
                </a:path>
              </a:pathLst>
            </a:custGeom>
            <a:blipFill>
              <a:blip r:embed="rId2"/>
              <a:stretch>
                <a:fillRect l="-25" t="0" r="-25" b="0"/>
              </a:stretch>
            </a:blipFill>
          </p:spPr>
        </p:sp>
      </p:grpSp>
      <p:sp>
        <p:nvSpPr>
          <p:cNvPr name="TextBox 11" id="11"/>
          <p:cNvSpPr txBox="true"/>
          <p:nvPr/>
        </p:nvSpPr>
        <p:spPr>
          <a:xfrm rot="0">
            <a:off x="6615465" y="6239599"/>
            <a:ext cx="1940414" cy="356959"/>
          </a:xfrm>
          <a:prstGeom prst="rect">
            <a:avLst/>
          </a:prstGeom>
        </p:spPr>
        <p:txBody>
          <a:bodyPr anchor="t" rtlCol="false" tIns="0" lIns="0" bIns="0" rIns="0">
            <a:spAutoFit/>
          </a:bodyPr>
          <a:lstStyle/>
          <a:p>
            <a:pPr algn="ctr">
              <a:lnSpc>
                <a:spcPts val="2620"/>
              </a:lnSpc>
            </a:pPr>
            <a:r>
              <a:rPr lang="en-US" sz="2100">
                <a:solidFill>
                  <a:srgbClr val="403CCF"/>
                </a:solidFill>
                <a:latin typeface="Libre Baskerville"/>
                <a:ea typeface="Libre Baskerville"/>
                <a:cs typeface="Libre Baskerville"/>
                <a:sym typeface="Libre Baskerville"/>
              </a:rPr>
              <a:t>Place Dataset</a:t>
            </a:r>
          </a:p>
        </p:txBody>
      </p:sp>
      <p:sp>
        <p:nvSpPr>
          <p:cNvPr name="TextBox 12" id="12"/>
          <p:cNvSpPr txBox="true"/>
          <p:nvPr/>
        </p:nvSpPr>
        <p:spPr>
          <a:xfrm rot="0">
            <a:off x="6615465" y="6723955"/>
            <a:ext cx="1940414" cy="431578"/>
          </a:xfrm>
          <a:prstGeom prst="rect">
            <a:avLst/>
          </a:prstGeom>
        </p:spPr>
        <p:txBody>
          <a:bodyPr anchor="t" rtlCol="false" tIns="0" lIns="0" bIns="0" rIns="0">
            <a:spAutoFit/>
          </a:bodyPr>
          <a:lstStyle/>
          <a:p>
            <a:pPr algn="ctr">
              <a:lnSpc>
                <a:spcPts val="1754"/>
              </a:lnSpc>
            </a:pPr>
            <a:r>
              <a:rPr lang="en-US" sz="1700">
                <a:solidFill>
                  <a:srgbClr val="49495A"/>
                </a:solidFill>
                <a:latin typeface="Open Sans"/>
                <a:ea typeface="Open Sans"/>
                <a:cs typeface="Open Sans"/>
                <a:sym typeface="Open Sans"/>
              </a:rPr>
              <a:t>Put data file in working directory</a:t>
            </a:r>
          </a:p>
        </p:txBody>
      </p:sp>
      <p:sp>
        <p:nvSpPr>
          <p:cNvPr name="TextBox 13" id="13"/>
          <p:cNvSpPr txBox="true"/>
          <p:nvPr/>
        </p:nvSpPr>
        <p:spPr>
          <a:xfrm rot="0">
            <a:off x="12779712" y="5892165"/>
            <a:ext cx="1940414" cy="704393"/>
          </a:xfrm>
          <a:prstGeom prst="rect">
            <a:avLst/>
          </a:prstGeom>
        </p:spPr>
        <p:txBody>
          <a:bodyPr anchor="t" rtlCol="false" tIns="0" lIns="0" bIns="0" rIns="0">
            <a:spAutoFit/>
          </a:bodyPr>
          <a:lstStyle/>
          <a:p>
            <a:pPr algn="ctr">
              <a:lnSpc>
                <a:spcPts val="2620"/>
              </a:lnSpc>
            </a:pPr>
            <a:r>
              <a:rPr lang="en-US" sz="2100">
                <a:solidFill>
                  <a:srgbClr val="403CCF"/>
                </a:solidFill>
                <a:latin typeface="Libre Baskerville"/>
                <a:ea typeface="Libre Baskerville"/>
                <a:cs typeface="Libre Baskerville"/>
                <a:sym typeface="Libre Baskerville"/>
              </a:rPr>
              <a:t>Review Results</a:t>
            </a:r>
          </a:p>
        </p:txBody>
      </p:sp>
      <p:sp>
        <p:nvSpPr>
          <p:cNvPr name="TextBox 14" id="14"/>
          <p:cNvSpPr txBox="true"/>
          <p:nvPr/>
        </p:nvSpPr>
        <p:spPr>
          <a:xfrm rot="0">
            <a:off x="12779712" y="6723955"/>
            <a:ext cx="1940414" cy="431578"/>
          </a:xfrm>
          <a:prstGeom prst="rect">
            <a:avLst/>
          </a:prstGeom>
        </p:spPr>
        <p:txBody>
          <a:bodyPr anchor="t" rtlCol="false" tIns="0" lIns="0" bIns="0" rIns="0">
            <a:spAutoFit/>
          </a:bodyPr>
          <a:lstStyle/>
          <a:p>
            <a:pPr algn="ctr">
              <a:lnSpc>
                <a:spcPts val="1754"/>
              </a:lnSpc>
            </a:pPr>
            <a:r>
              <a:rPr lang="en-US" sz="1700">
                <a:solidFill>
                  <a:srgbClr val="49495A"/>
                </a:solidFill>
                <a:latin typeface="Open Sans"/>
                <a:ea typeface="Open Sans"/>
                <a:cs typeface="Open Sans"/>
                <a:sym typeface="Open Sans"/>
              </a:rPr>
              <a:t>Check charts and summary outputs</a:t>
            </a:r>
          </a:p>
        </p:txBody>
      </p:sp>
      <p:sp>
        <p:nvSpPr>
          <p:cNvPr name="TextBox 15" id="15"/>
          <p:cNvSpPr txBox="true"/>
          <p:nvPr/>
        </p:nvSpPr>
        <p:spPr>
          <a:xfrm rot="0">
            <a:off x="3601288" y="2525916"/>
            <a:ext cx="1940414" cy="704393"/>
          </a:xfrm>
          <a:prstGeom prst="rect">
            <a:avLst/>
          </a:prstGeom>
        </p:spPr>
        <p:txBody>
          <a:bodyPr anchor="t" rtlCol="false" tIns="0" lIns="0" bIns="0" rIns="0">
            <a:spAutoFit/>
          </a:bodyPr>
          <a:lstStyle/>
          <a:p>
            <a:pPr algn="ctr">
              <a:lnSpc>
                <a:spcPts val="2620"/>
              </a:lnSpc>
            </a:pPr>
            <a:r>
              <a:rPr lang="en-US" sz="2100">
                <a:solidFill>
                  <a:srgbClr val="403CCF"/>
                </a:solidFill>
                <a:latin typeface="Libre Baskerville"/>
                <a:ea typeface="Libre Baskerville"/>
                <a:cs typeface="Libre Baskerville"/>
                <a:sym typeface="Libre Baskerville"/>
              </a:rPr>
              <a:t>Open Notebook</a:t>
            </a:r>
          </a:p>
        </p:txBody>
      </p:sp>
      <p:sp>
        <p:nvSpPr>
          <p:cNvPr name="TextBox 16" id="16"/>
          <p:cNvSpPr txBox="true"/>
          <p:nvPr/>
        </p:nvSpPr>
        <p:spPr>
          <a:xfrm rot="0">
            <a:off x="3601288" y="3357715"/>
            <a:ext cx="1940414" cy="431578"/>
          </a:xfrm>
          <a:prstGeom prst="rect">
            <a:avLst/>
          </a:prstGeom>
        </p:spPr>
        <p:txBody>
          <a:bodyPr anchor="t" rtlCol="false" tIns="0" lIns="0" bIns="0" rIns="0">
            <a:spAutoFit/>
          </a:bodyPr>
          <a:lstStyle/>
          <a:p>
            <a:pPr algn="ctr">
              <a:lnSpc>
                <a:spcPts val="1754"/>
              </a:lnSpc>
            </a:pPr>
            <a:r>
              <a:rPr lang="en-US" sz="1700">
                <a:solidFill>
                  <a:srgbClr val="49495A"/>
                </a:solidFill>
                <a:latin typeface="Open Sans"/>
                <a:ea typeface="Open Sans"/>
                <a:cs typeface="Open Sans"/>
                <a:sym typeface="Open Sans"/>
              </a:rPr>
              <a:t>Launch in Jupyter or Colab</a:t>
            </a:r>
          </a:p>
        </p:txBody>
      </p:sp>
      <p:sp>
        <p:nvSpPr>
          <p:cNvPr name="TextBox 17" id="17"/>
          <p:cNvSpPr txBox="true"/>
          <p:nvPr/>
        </p:nvSpPr>
        <p:spPr>
          <a:xfrm rot="0">
            <a:off x="9740827" y="2525916"/>
            <a:ext cx="1940414" cy="356959"/>
          </a:xfrm>
          <a:prstGeom prst="rect">
            <a:avLst/>
          </a:prstGeom>
        </p:spPr>
        <p:txBody>
          <a:bodyPr anchor="t" rtlCol="false" tIns="0" lIns="0" bIns="0" rIns="0">
            <a:spAutoFit/>
          </a:bodyPr>
          <a:lstStyle/>
          <a:p>
            <a:pPr algn="ctr">
              <a:lnSpc>
                <a:spcPts val="2620"/>
              </a:lnSpc>
            </a:pPr>
            <a:r>
              <a:rPr lang="en-US" sz="2100">
                <a:solidFill>
                  <a:srgbClr val="403CCF"/>
                </a:solidFill>
                <a:latin typeface="Libre Baskerville"/>
                <a:ea typeface="Libre Baskerville"/>
                <a:cs typeface="Libre Baskerville"/>
                <a:sym typeface="Libre Baskerville"/>
              </a:rPr>
              <a:t>Run Cells</a:t>
            </a:r>
          </a:p>
        </p:txBody>
      </p:sp>
      <p:sp>
        <p:nvSpPr>
          <p:cNvPr name="TextBox 18" id="18"/>
          <p:cNvSpPr txBox="true"/>
          <p:nvPr/>
        </p:nvSpPr>
        <p:spPr>
          <a:xfrm rot="0">
            <a:off x="9740827" y="3010281"/>
            <a:ext cx="1940414" cy="431578"/>
          </a:xfrm>
          <a:prstGeom prst="rect">
            <a:avLst/>
          </a:prstGeom>
        </p:spPr>
        <p:txBody>
          <a:bodyPr anchor="t" rtlCol="false" tIns="0" lIns="0" bIns="0" rIns="0">
            <a:spAutoFit/>
          </a:bodyPr>
          <a:lstStyle/>
          <a:p>
            <a:pPr algn="ctr">
              <a:lnSpc>
                <a:spcPts val="1754"/>
              </a:lnSpc>
            </a:pPr>
            <a:r>
              <a:rPr lang="en-US" sz="1700">
                <a:solidFill>
                  <a:srgbClr val="49495A"/>
                </a:solidFill>
                <a:latin typeface="Open Sans"/>
                <a:ea typeface="Open Sans"/>
                <a:cs typeface="Open Sans"/>
                <a:sym typeface="Open Sans"/>
              </a:rPr>
              <a:t>Execute all cells in order</a:t>
            </a:r>
          </a:p>
        </p:txBody>
      </p:sp>
      <p:sp>
        <p:nvSpPr>
          <p:cNvPr name="TextBox 19" id="19"/>
          <p:cNvSpPr txBox="true"/>
          <p:nvPr/>
        </p:nvSpPr>
        <p:spPr>
          <a:xfrm rot="0">
            <a:off x="2724598" y="7771657"/>
            <a:ext cx="12838805" cy="440827"/>
          </a:xfrm>
          <a:prstGeom prst="rect">
            <a:avLst/>
          </a:prstGeom>
        </p:spPr>
        <p:txBody>
          <a:bodyPr anchor="t" rtlCol="false" tIns="0" lIns="0" bIns="0" rIns="0">
            <a:spAutoFit/>
          </a:bodyPr>
          <a:lstStyle/>
          <a:p>
            <a:pPr algn="l">
              <a:lnSpc>
                <a:spcPts val="1584"/>
              </a:lnSpc>
            </a:pPr>
            <a:r>
              <a:rPr lang="en-US" sz="1200">
                <a:solidFill>
                  <a:srgbClr val="49495A"/>
                </a:solidFill>
                <a:latin typeface="Open Sans"/>
                <a:ea typeface="Open Sans"/>
                <a:cs typeface="Open Sans"/>
                <a:sym typeface="Open Sans"/>
              </a:rPr>
              <a:t>The notebook is designed for </a:t>
            </a:r>
            <a:r>
              <a:rPr lang="en-US" sz="1200" b="true">
                <a:solidFill>
                  <a:srgbClr val="49495A"/>
                </a:solidFill>
                <a:latin typeface="Open Sans Bold"/>
                <a:ea typeface="Open Sans Bold"/>
                <a:cs typeface="Open Sans Bold"/>
                <a:sym typeface="Open Sans Bold"/>
              </a:rPr>
              <a:t>exploratory analysis and visualization</a:t>
            </a:r>
            <a:r>
              <a:rPr lang="en-US" sz="1200">
                <a:solidFill>
                  <a:srgbClr val="49495A"/>
                </a:solidFill>
                <a:latin typeface="Open Sans"/>
                <a:ea typeface="Open Sans"/>
                <a:cs typeface="Open Sans"/>
                <a:sym typeface="Open Sans"/>
              </a:rPr>
              <a:t>. Each cell builds on the previous one, so running in sequence is important. The assets/ folder contains supporting visual outputs including defect-type charts, repair cost trend plots, and severity scatter diagrams.</a:t>
            </a:r>
          </a:p>
        </p:txBody>
      </p:sp>
      <p:grpSp>
        <p:nvGrpSpPr>
          <p:cNvPr name="Group 20" id="20"/>
          <p:cNvGrpSpPr/>
          <p:nvPr/>
        </p:nvGrpSpPr>
        <p:grpSpPr>
          <a:xfrm rot="0">
            <a:off x="2607316" y="8332594"/>
            <a:ext cx="6455416" cy="1442295"/>
            <a:chOff x="0" y="0"/>
            <a:chExt cx="8607222" cy="1923059"/>
          </a:xfrm>
        </p:grpSpPr>
        <p:sp>
          <p:nvSpPr>
            <p:cNvPr name="Freeform 21" id="21"/>
            <p:cNvSpPr/>
            <p:nvPr/>
          </p:nvSpPr>
          <p:spPr>
            <a:xfrm flipH="false" flipV="false" rot="0">
              <a:off x="0" y="0"/>
              <a:ext cx="8607171" cy="1923034"/>
            </a:xfrm>
            <a:custGeom>
              <a:avLst/>
              <a:gdLst/>
              <a:ahLst/>
              <a:cxnLst/>
              <a:rect r="r" b="b" t="t" l="l"/>
              <a:pathLst>
                <a:path h="1923034" w="8607171">
                  <a:moveTo>
                    <a:pt x="0" y="32512"/>
                  </a:moveTo>
                  <a:cubicBezTo>
                    <a:pt x="0" y="14605"/>
                    <a:pt x="14605" y="0"/>
                    <a:pt x="32512" y="0"/>
                  </a:cubicBezTo>
                  <a:lnTo>
                    <a:pt x="8574659" y="0"/>
                  </a:lnTo>
                  <a:cubicBezTo>
                    <a:pt x="8592693" y="0"/>
                    <a:pt x="8607171" y="14605"/>
                    <a:pt x="8607171" y="32512"/>
                  </a:cubicBezTo>
                  <a:lnTo>
                    <a:pt x="8607171" y="1890522"/>
                  </a:lnTo>
                  <a:cubicBezTo>
                    <a:pt x="8607171" y="1908556"/>
                    <a:pt x="8592565" y="1923034"/>
                    <a:pt x="8574659" y="1923034"/>
                  </a:cubicBezTo>
                  <a:lnTo>
                    <a:pt x="32512" y="1923034"/>
                  </a:lnTo>
                  <a:cubicBezTo>
                    <a:pt x="14478" y="1923034"/>
                    <a:pt x="0" y="1908429"/>
                    <a:pt x="0" y="1890522"/>
                  </a:cubicBezTo>
                  <a:close/>
                </a:path>
              </a:pathLst>
            </a:custGeom>
            <a:solidFill>
              <a:srgbClr val="403CCF"/>
            </a:solidFill>
          </p:spPr>
        </p:sp>
      </p:grpSp>
      <p:sp>
        <p:nvSpPr>
          <p:cNvPr name="TextBox 22" id="22"/>
          <p:cNvSpPr txBox="true"/>
          <p:nvPr/>
        </p:nvSpPr>
        <p:spPr>
          <a:xfrm rot="0">
            <a:off x="2769994" y="8439302"/>
            <a:ext cx="2949473" cy="254194"/>
          </a:xfrm>
          <a:prstGeom prst="rect">
            <a:avLst/>
          </a:prstGeom>
        </p:spPr>
        <p:txBody>
          <a:bodyPr anchor="t" rtlCol="false" tIns="0" lIns="0" bIns="0" rIns="0">
            <a:spAutoFit/>
          </a:bodyPr>
          <a:lstStyle/>
          <a:p>
            <a:pPr algn="l">
              <a:lnSpc>
                <a:spcPts val="1996"/>
              </a:lnSpc>
            </a:pPr>
            <a:r>
              <a:rPr lang="en-US" sz="1600">
                <a:solidFill>
                  <a:srgbClr val="FFFFFF"/>
                </a:solidFill>
                <a:latin typeface="Libre Baskerville"/>
                <a:ea typeface="Libre Baskerville"/>
                <a:cs typeface="Libre Baskerville"/>
                <a:sym typeface="Libre Baskerville"/>
              </a:rPr>
              <a:t>Project Files</a:t>
            </a:r>
          </a:p>
        </p:txBody>
      </p:sp>
      <p:sp>
        <p:nvSpPr>
          <p:cNvPr name="TextBox 23" id="23"/>
          <p:cNvSpPr txBox="true"/>
          <p:nvPr/>
        </p:nvSpPr>
        <p:spPr>
          <a:xfrm rot="0">
            <a:off x="2769994" y="8790680"/>
            <a:ext cx="6130080" cy="731196"/>
          </a:xfrm>
          <a:prstGeom prst="rect">
            <a:avLst/>
          </a:prstGeom>
        </p:spPr>
        <p:txBody>
          <a:bodyPr anchor="t" rtlCol="false" tIns="0" lIns="0" bIns="0" rIns="0">
            <a:spAutoFit/>
          </a:bodyPr>
          <a:lstStyle/>
          <a:p>
            <a:pPr algn="l" marL="289560" indent="-144780" lvl="1">
              <a:lnSpc>
                <a:spcPts val="1584"/>
              </a:lnSpc>
              <a:buFont typeface="Arial"/>
              <a:buChar char="•"/>
            </a:pPr>
            <a:r>
              <a:rPr lang="en-US" sz="1200">
                <a:solidFill>
                  <a:srgbClr val="FFFFFF"/>
                </a:solidFill>
                <a:latin typeface="Open Sans"/>
                <a:ea typeface="Open Sans"/>
                <a:cs typeface="Open Sans"/>
                <a:sym typeface="Open Sans"/>
              </a:rPr>
              <a:t>Manufacturing_data.ipynb — Main analysis notebook</a:t>
            </a:r>
          </a:p>
          <a:p>
            <a:pPr algn="l" marL="289560" indent="-144780" lvl="1">
              <a:lnSpc>
                <a:spcPts val="1584"/>
              </a:lnSpc>
              <a:buFont typeface="Arial"/>
              <a:buChar char="•"/>
            </a:pPr>
            <a:r>
              <a:rPr lang="en-US" sz="1200">
                <a:solidFill>
                  <a:srgbClr val="FFFFFF"/>
                </a:solidFill>
                <a:latin typeface="Open Sans"/>
                <a:ea typeface="Open Sans"/>
                <a:cs typeface="Open Sans"/>
                <a:sym typeface="Open Sans"/>
              </a:rPr>
              <a:t>README.md — Documentation and setup guide</a:t>
            </a:r>
          </a:p>
          <a:p>
            <a:pPr algn="l" marL="289560" indent="-144780" lvl="1">
              <a:lnSpc>
                <a:spcPts val="1584"/>
              </a:lnSpc>
              <a:buFont typeface="Arial"/>
              <a:buChar char="•"/>
            </a:pPr>
            <a:r>
              <a:rPr lang="en-US" sz="1200">
                <a:solidFill>
                  <a:srgbClr val="FFFFFF"/>
                </a:solidFill>
                <a:latin typeface="Open Sans"/>
                <a:ea typeface="Open Sans"/>
                <a:cs typeface="Open Sans"/>
                <a:sym typeface="Open Sans"/>
              </a:rPr>
              <a:t>assets/ — Charts, visuals, and demo files</a:t>
            </a:r>
          </a:p>
        </p:txBody>
      </p:sp>
      <p:sp>
        <p:nvSpPr>
          <p:cNvPr name="TextBox 24" id="24"/>
          <p:cNvSpPr txBox="true"/>
          <p:nvPr/>
        </p:nvSpPr>
        <p:spPr>
          <a:xfrm rot="0">
            <a:off x="9352064" y="8439302"/>
            <a:ext cx="3134173" cy="254194"/>
          </a:xfrm>
          <a:prstGeom prst="rect">
            <a:avLst/>
          </a:prstGeom>
        </p:spPr>
        <p:txBody>
          <a:bodyPr anchor="t" rtlCol="false" tIns="0" lIns="0" bIns="0" rIns="0">
            <a:spAutoFit/>
          </a:bodyPr>
          <a:lstStyle/>
          <a:p>
            <a:pPr algn="l">
              <a:lnSpc>
                <a:spcPts val="1996"/>
              </a:lnSpc>
            </a:pPr>
            <a:r>
              <a:rPr lang="en-US" sz="1600">
                <a:solidFill>
                  <a:srgbClr val="403CCF"/>
                </a:solidFill>
                <a:latin typeface="Libre Baskerville"/>
                <a:ea typeface="Libre Baskerville"/>
                <a:cs typeface="Libre Baskerville"/>
                <a:sym typeface="Libre Baskerville"/>
              </a:rPr>
              <a:t>Recommended Tools</a:t>
            </a:r>
          </a:p>
        </p:txBody>
      </p:sp>
      <p:sp>
        <p:nvSpPr>
          <p:cNvPr name="TextBox 25" id="25"/>
          <p:cNvSpPr txBox="true"/>
          <p:nvPr/>
        </p:nvSpPr>
        <p:spPr>
          <a:xfrm rot="0">
            <a:off x="9352064" y="8790680"/>
            <a:ext cx="6220863" cy="946842"/>
          </a:xfrm>
          <a:prstGeom prst="rect">
            <a:avLst/>
          </a:prstGeom>
        </p:spPr>
        <p:txBody>
          <a:bodyPr anchor="t" rtlCol="false" tIns="0" lIns="0" bIns="0" rIns="0">
            <a:spAutoFit/>
          </a:bodyPr>
          <a:lstStyle/>
          <a:p>
            <a:pPr algn="l" marL="289560" indent="-144780" lvl="1">
              <a:lnSpc>
                <a:spcPts val="1584"/>
              </a:lnSpc>
              <a:buFont typeface="Arial"/>
              <a:buChar char="•"/>
            </a:pPr>
            <a:r>
              <a:rPr lang="en-US" b="true" sz="1200">
                <a:solidFill>
                  <a:srgbClr val="49495A"/>
                </a:solidFill>
                <a:latin typeface="Open Sans Bold"/>
                <a:ea typeface="Open Sans Bold"/>
                <a:cs typeface="Open Sans Bold"/>
                <a:sym typeface="Open Sans Bold"/>
              </a:rPr>
              <a:t>Jupyter Notebook</a:t>
            </a:r>
            <a:r>
              <a:rPr lang="en-US" sz="1200">
                <a:solidFill>
                  <a:srgbClr val="49495A"/>
                </a:solidFill>
                <a:latin typeface="Open Sans"/>
                <a:ea typeface="Open Sans"/>
                <a:cs typeface="Open Sans"/>
                <a:sym typeface="Open Sans"/>
              </a:rPr>
              <a:t> — Local execution with full Python environment</a:t>
            </a:r>
          </a:p>
          <a:p>
            <a:pPr algn="l" marL="289560" indent="-144780" lvl="1">
              <a:lnSpc>
                <a:spcPts val="1584"/>
              </a:lnSpc>
              <a:buFont typeface="Arial"/>
              <a:buChar char="•"/>
            </a:pPr>
            <a:r>
              <a:rPr lang="en-US" b="true" sz="1200">
                <a:solidFill>
                  <a:srgbClr val="49495A"/>
                </a:solidFill>
                <a:latin typeface="Open Sans Bold"/>
                <a:ea typeface="Open Sans Bold"/>
                <a:cs typeface="Open Sans Bold"/>
                <a:sym typeface="Open Sans Bold"/>
              </a:rPr>
              <a:t>Google Colab</a:t>
            </a:r>
            <a:r>
              <a:rPr lang="en-US" sz="1200">
                <a:solidFill>
                  <a:srgbClr val="49495A"/>
                </a:solidFill>
                <a:latin typeface="Open Sans"/>
                <a:ea typeface="Open Sans"/>
                <a:cs typeface="Open Sans"/>
                <a:sym typeface="Open Sans"/>
              </a:rPr>
              <a:t> — Cloud-based, no setup required</a:t>
            </a:r>
          </a:p>
          <a:p>
            <a:pPr algn="l" marL="289560" indent="-144780" lvl="1">
              <a:lnSpc>
                <a:spcPts val="1584"/>
              </a:lnSpc>
              <a:buFont typeface="Arial"/>
              <a:buChar char="•"/>
            </a:pPr>
            <a:r>
              <a:rPr lang="en-US" b="true" sz="1200">
                <a:solidFill>
                  <a:srgbClr val="49495A"/>
                </a:solidFill>
                <a:latin typeface="Open Sans Bold"/>
                <a:ea typeface="Open Sans Bold"/>
                <a:cs typeface="Open Sans Bold"/>
                <a:sym typeface="Open Sans Bold"/>
              </a:rPr>
              <a:t>Pandas + Matplotlib/Seaborn</a:t>
            </a:r>
            <a:r>
              <a:rPr lang="en-US" sz="1200">
                <a:solidFill>
                  <a:srgbClr val="49495A"/>
                </a:solidFill>
                <a:latin typeface="Open Sans"/>
                <a:ea typeface="Open Sans"/>
                <a:cs typeface="Open Sans"/>
                <a:sym typeface="Open Sans"/>
              </a:rPr>
              <a:t> — Core libraries for data manipulation and visualization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DAHLhGV9wa8</dc:identifier>
  <dcterms:modified xsi:type="dcterms:W3CDTF">2011-08-01T06:04:30Z</dcterms:modified>
  <cp:revision>1</cp:revision>
</cp:coreProperties>
</file>